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1" r:id="rId6"/>
    <p:sldId id="292" r:id="rId7"/>
    <p:sldId id="266" r:id="rId8"/>
    <p:sldId id="262" r:id="rId9"/>
    <p:sldId id="263" r:id="rId10"/>
    <p:sldId id="268" r:id="rId11"/>
    <p:sldId id="269" r:id="rId12"/>
    <p:sldId id="273" r:id="rId13"/>
    <p:sldId id="270" r:id="rId14"/>
    <p:sldId id="271" r:id="rId15"/>
    <p:sldId id="272" r:id="rId16"/>
    <p:sldId id="267" r:id="rId17"/>
    <p:sldId id="282" r:id="rId18"/>
    <p:sldId id="290" r:id="rId19"/>
    <p:sldId id="289" r:id="rId20"/>
    <p:sldId id="264" r:id="rId21"/>
    <p:sldId id="286" r:id="rId22"/>
    <p:sldId id="287" r:id="rId23"/>
    <p:sldId id="285" r:id="rId24"/>
    <p:sldId id="284" r:id="rId25"/>
    <p:sldId id="283" r:id="rId26"/>
    <p:sldId id="281" r:id="rId27"/>
    <p:sldId id="279" r:id="rId28"/>
    <p:sldId id="278" r:id="rId29"/>
    <p:sldId id="280" r:id="rId30"/>
    <p:sldId id="274" r:id="rId31"/>
    <p:sldId id="275" r:id="rId32"/>
    <p:sldId id="276" r:id="rId33"/>
    <p:sldId id="291" r:id="rId34"/>
    <p:sldId id="26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8"/>
    <p:restoredTop sz="83050"/>
  </p:normalViewPr>
  <p:slideViewPr>
    <p:cSldViewPr snapToGrid="0">
      <p:cViewPr>
        <p:scale>
          <a:sx n="80" d="100"/>
          <a:sy n="80" d="100"/>
        </p:scale>
        <p:origin x="1896"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018A2-AA1C-6648-8BCD-E4FE7FCE7648}" type="datetimeFigureOut">
              <a:rPr lang="en-US" smtClean="0"/>
              <a:t>7/16/25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BCA3DF-41ED-6A49-B789-C85E52FF8DC8}" type="slidenum">
              <a:rPr lang="en-US" smtClean="0"/>
              <a:t>‹#›</a:t>
            </a:fld>
            <a:endParaRPr lang="en-US"/>
          </a:p>
        </p:txBody>
      </p:sp>
    </p:spTree>
    <p:extLst>
      <p:ext uri="{BB962C8B-B14F-4D97-AF65-F5344CB8AC3E}">
        <p14:creationId xmlns:p14="http://schemas.microsoft.com/office/powerpoint/2010/main" val="1896549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BCA3DF-41ED-6A49-B789-C85E52FF8DC8}" type="slidenum">
              <a:rPr lang="en-US" smtClean="0"/>
              <a:t>1</a:t>
            </a:fld>
            <a:endParaRPr lang="en-US"/>
          </a:p>
        </p:txBody>
      </p:sp>
    </p:spTree>
    <p:extLst>
      <p:ext uri="{BB962C8B-B14F-4D97-AF65-F5344CB8AC3E}">
        <p14:creationId xmlns:p14="http://schemas.microsoft.com/office/powerpoint/2010/main" val="226490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FAST</a:t>
            </a:r>
          </a:p>
        </p:txBody>
      </p:sp>
      <p:sp>
        <p:nvSpPr>
          <p:cNvPr id="4" name="Slide Number Placeholder 3"/>
          <p:cNvSpPr>
            <a:spLocks noGrp="1"/>
          </p:cNvSpPr>
          <p:nvPr>
            <p:ph type="sldNum" sz="quarter" idx="5"/>
          </p:nvPr>
        </p:nvSpPr>
        <p:spPr/>
        <p:txBody>
          <a:bodyPr/>
          <a:lstStyle/>
          <a:p>
            <a:fld id="{5EBCA3DF-41ED-6A49-B789-C85E52FF8DC8}" type="slidenum">
              <a:rPr lang="en-US" smtClean="0"/>
              <a:t>2</a:t>
            </a:fld>
            <a:endParaRPr lang="en-US"/>
          </a:p>
        </p:txBody>
      </p:sp>
    </p:spTree>
    <p:extLst>
      <p:ext uri="{BB962C8B-B14F-4D97-AF65-F5344CB8AC3E}">
        <p14:creationId xmlns:p14="http://schemas.microsoft.com/office/powerpoint/2010/main" val="354941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FAST </a:t>
            </a:r>
            <a:r>
              <a:rPr lang="en-US" b="1" dirty="0"/>
              <a:t>ONLY THE FIRST SENTENCE</a:t>
            </a:r>
          </a:p>
        </p:txBody>
      </p:sp>
      <p:sp>
        <p:nvSpPr>
          <p:cNvPr id="4" name="Slide Number Placeholder 3"/>
          <p:cNvSpPr>
            <a:spLocks noGrp="1"/>
          </p:cNvSpPr>
          <p:nvPr>
            <p:ph type="sldNum" sz="quarter" idx="5"/>
          </p:nvPr>
        </p:nvSpPr>
        <p:spPr/>
        <p:txBody>
          <a:bodyPr/>
          <a:lstStyle/>
          <a:p>
            <a:fld id="{5EBCA3DF-41ED-6A49-B789-C85E52FF8DC8}" type="slidenum">
              <a:rPr lang="en-US" smtClean="0"/>
              <a:t>3</a:t>
            </a:fld>
            <a:endParaRPr lang="en-US"/>
          </a:p>
        </p:txBody>
      </p:sp>
    </p:spTree>
    <p:extLst>
      <p:ext uri="{BB962C8B-B14F-4D97-AF65-F5344CB8AC3E}">
        <p14:creationId xmlns:p14="http://schemas.microsoft.com/office/powerpoint/2010/main" val="1485029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ONLY THE </a:t>
            </a:r>
            <a:r>
              <a:rPr lang="en-US" b="1" dirty="0"/>
              <a:t>HYPOTHESIS</a:t>
            </a:r>
          </a:p>
        </p:txBody>
      </p:sp>
      <p:sp>
        <p:nvSpPr>
          <p:cNvPr id="4" name="Slide Number Placeholder 3"/>
          <p:cNvSpPr>
            <a:spLocks noGrp="1"/>
          </p:cNvSpPr>
          <p:nvPr>
            <p:ph type="sldNum" sz="quarter" idx="5"/>
          </p:nvPr>
        </p:nvSpPr>
        <p:spPr/>
        <p:txBody>
          <a:bodyPr/>
          <a:lstStyle/>
          <a:p>
            <a:fld id="{5EBCA3DF-41ED-6A49-B789-C85E52FF8DC8}" type="slidenum">
              <a:rPr lang="en-US" smtClean="0"/>
              <a:t>4</a:t>
            </a:fld>
            <a:endParaRPr lang="en-US"/>
          </a:p>
        </p:txBody>
      </p:sp>
    </p:spTree>
    <p:extLst>
      <p:ext uri="{BB962C8B-B14F-4D97-AF65-F5344CB8AC3E}">
        <p14:creationId xmlns:p14="http://schemas.microsoft.com/office/powerpoint/2010/main" val="4108516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TITLES – JUST </a:t>
            </a:r>
            <a:r>
              <a:rPr lang="en-US" b="1" dirty="0"/>
              <a:t>AUTHOR + FIRST PHRASE OF DESCRIPTION</a:t>
            </a:r>
          </a:p>
        </p:txBody>
      </p:sp>
      <p:sp>
        <p:nvSpPr>
          <p:cNvPr id="4" name="Slide Number Placeholder 3"/>
          <p:cNvSpPr>
            <a:spLocks noGrp="1"/>
          </p:cNvSpPr>
          <p:nvPr>
            <p:ph type="sldNum" sz="quarter" idx="5"/>
          </p:nvPr>
        </p:nvSpPr>
        <p:spPr/>
        <p:txBody>
          <a:bodyPr/>
          <a:lstStyle/>
          <a:p>
            <a:fld id="{5EBCA3DF-41ED-6A49-B789-C85E52FF8DC8}" type="slidenum">
              <a:rPr lang="en-US" smtClean="0"/>
              <a:t>5</a:t>
            </a:fld>
            <a:endParaRPr lang="en-US"/>
          </a:p>
        </p:txBody>
      </p:sp>
    </p:spTree>
    <p:extLst>
      <p:ext uri="{BB962C8B-B14F-4D97-AF65-F5344CB8AC3E}">
        <p14:creationId xmlns:p14="http://schemas.microsoft.com/office/powerpoint/2010/main" val="1255717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088D8-783E-5DD8-2F7B-D14C3D426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FDF04-BE19-4604-D4E5-1C1FEAAA2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670436-8182-8C9D-00B9-AC532D9819FC}"/>
              </a:ext>
            </a:extLst>
          </p:cNvPr>
          <p:cNvSpPr>
            <a:spLocks noGrp="1"/>
          </p:cNvSpPr>
          <p:nvPr>
            <p:ph type="body" idx="1"/>
          </p:nvPr>
        </p:nvSpPr>
        <p:spPr/>
        <p:txBody>
          <a:bodyPr/>
          <a:lstStyle/>
          <a:p>
            <a:r>
              <a:rPr lang="en-US" dirty="0"/>
              <a:t>DO NOT READ TITLES – JUST </a:t>
            </a:r>
            <a:r>
              <a:rPr lang="en-US" b="1" dirty="0"/>
              <a:t>AUTHOR + FIRST PHRASE OF DESCRIPTION</a:t>
            </a:r>
          </a:p>
        </p:txBody>
      </p:sp>
      <p:sp>
        <p:nvSpPr>
          <p:cNvPr id="4" name="Slide Number Placeholder 3">
            <a:extLst>
              <a:ext uri="{FF2B5EF4-FFF2-40B4-BE49-F238E27FC236}">
                <a16:creationId xmlns:a16="http://schemas.microsoft.com/office/drawing/2014/main" id="{95E15BE8-A25C-3A38-B1BB-F216C140A3AE}"/>
              </a:ext>
            </a:extLst>
          </p:cNvPr>
          <p:cNvSpPr>
            <a:spLocks noGrp="1"/>
          </p:cNvSpPr>
          <p:nvPr>
            <p:ph type="sldNum" sz="quarter" idx="5"/>
          </p:nvPr>
        </p:nvSpPr>
        <p:spPr/>
        <p:txBody>
          <a:bodyPr/>
          <a:lstStyle/>
          <a:p>
            <a:fld id="{5EBCA3DF-41ED-6A49-B789-C85E52FF8DC8}" type="slidenum">
              <a:rPr lang="en-US" smtClean="0"/>
              <a:t>6</a:t>
            </a:fld>
            <a:endParaRPr lang="en-US"/>
          </a:p>
        </p:txBody>
      </p:sp>
    </p:spTree>
    <p:extLst>
      <p:ext uri="{BB962C8B-B14F-4D97-AF65-F5344CB8AC3E}">
        <p14:creationId xmlns:p14="http://schemas.microsoft.com/office/powerpoint/2010/main" val="2789464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7</a:t>
            </a:fld>
            <a:endParaRPr lang="en-US"/>
          </a:p>
        </p:txBody>
      </p:sp>
    </p:spTree>
    <p:extLst>
      <p:ext uri="{BB962C8B-B14F-4D97-AF65-F5344CB8AC3E}">
        <p14:creationId xmlns:p14="http://schemas.microsoft.com/office/powerpoint/2010/main" val="1300276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8</a:t>
            </a:fld>
            <a:endParaRPr lang="en-US"/>
          </a:p>
        </p:txBody>
      </p:sp>
    </p:spTree>
    <p:extLst>
      <p:ext uri="{BB962C8B-B14F-4D97-AF65-F5344CB8AC3E}">
        <p14:creationId xmlns:p14="http://schemas.microsoft.com/office/powerpoint/2010/main" val="13246295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9</a:t>
            </a:fld>
            <a:endParaRPr lang="en-US"/>
          </a:p>
        </p:txBody>
      </p:sp>
    </p:spTree>
    <p:extLst>
      <p:ext uri="{BB962C8B-B14F-4D97-AF65-F5344CB8AC3E}">
        <p14:creationId xmlns:p14="http://schemas.microsoft.com/office/powerpoint/2010/main" val="291940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10</a:t>
            </a:fld>
            <a:endParaRPr lang="en-US"/>
          </a:p>
        </p:txBody>
      </p:sp>
    </p:spTree>
    <p:extLst>
      <p:ext uri="{BB962C8B-B14F-4D97-AF65-F5344CB8AC3E}">
        <p14:creationId xmlns:p14="http://schemas.microsoft.com/office/powerpoint/2010/main" val="40251242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11</a:t>
            </a:fld>
            <a:endParaRPr lang="en-US"/>
          </a:p>
        </p:txBody>
      </p:sp>
    </p:spTree>
    <p:extLst>
      <p:ext uri="{BB962C8B-B14F-4D97-AF65-F5344CB8AC3E}">
        <p14:creationId xmlns:p14="http://schemas.microsoft.com/office/powerpoint/2010/main" val="1497680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Basic:</a:t>
            </a:r>
            <a:r>
              <a:rPr lang="en-US" sz="1200" kern="1200" dirty="0">
                <a:solidFill>
                  <a:schemeClr val="tx1"/>
                </a:solidFill>
                <a:effectLst/>
                <a:latin typeface="+mn-lt"/>
                <a:ea typeface="+mn-ea"/>
                <a:cs typeface="+mn-cs"/>
              </a:rPr>
              <a:t> a minimal directive such as a request to complete a starter code. This bare prompt establishes a performance baseline under unconstrained generation.</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Instructional:</a:t>
            </a:r>
            <a:r>
              <a:rPr lang="en-US" sz="1200" kern="1200" dirty="0">
                <a:solidFill>
                  <a:schemeClr val="tx1"/>
                </a:solidFill>
                <a:effectLst/>
                <a:latin typeface="+mn-lt"/>
                <a:ea typeface="+mn-ea"/>
                <a:cs typeface="+mn-cs"/>
              </a:rPr>
              <a:t> incorporates a developer persona and formatting constraints, such as to act as an experienced Python software developer, enclose the output in code fences. etc. By specifying role and formatting stopping criteria, this level aims to reduce spurious text.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Full:</a:t>
            </a:r>
            <a:r>
              <a:rPr lang="en-US" sz="1200" kern="1200" dirty="0">
                <a:solidFill>
                  <a:schemeClr val="tx1"/>
                </a:solidFill>
                <a:effectLst/>
                <a:latin typeface="+mn-lt"/>
                <a:ea typeface="+mn-ea"/>
                <a:cs typeface="+mn-cs"/>
              </a:rPr>
              <a:t> adds a step-by-step procedure plus strict “no non-code content” rules, such as to Read and understand the starter code, integrate the completion with correct syntax and indentation, exclude any explanations or test cases, stop immediately after the final line of the function, output only valid Python code within fenced blocks. These guardrails enforce maximum consistency and minimize post-processing.</a:t>
            </a:r>
          </a:p>
          <a:p>
            <a:endParaRPr lang="en-US" dirty="0"/>
          </a:p>
        </p:txBody>
      </p:sp>
      <p:sp>
        <p:nvSpPr>
          <p:cNvPr id="4" name="Slide Number Placeholder 3"/>
          <p:cNvSpPr>
            <a:spLocks noGrp="1"/>
          </p:cNvSpPr>
          <p:nvPr>
            <p:ph type="sldNum" sz="quarter" idx="5"/>
          </p:nvPr>
        </p:nvSpPr>
        <p:spPr/>
        <p:txBody>
          <a:bodyPr/>
          <a:lstStyle/>
          <a:p>
            <a:fld id="{5EBCA3DF-41ED-6A49-B789-C85E52FF8DC8}" type="slidenum">
              <a:rPr lang="en-US" smtClean="0"/>
              <a:t>12</a:t>
            </a:fld>
            <a:endParaRPr lang="en-US"/>
          </a:p>
        </p:txBody>
      </p:sp>
    </p:spTree>
    <p:extLst>
      <p:ext uri="{BB962C8B-B14F-4D97-AF65-F5344CB8AC3E}">
        <p14:creationId xmlns:p14="http://schemas.microsoft.com/office/powerpoint/2010/main" val="1024083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13</a:t>
            </a:fld>
            <a:endParaRPr lang="en-US"/>
          </a:p>
        </p:txBody>
      </p:sp>
    </p:spTree>
    <p:extLst>
      <p:ext uri="{BB962C8B-B14F-4D97-AF65-F5344CB8AC3E}">
        <p14:creationId xmlns:p14="http://schemas.microsoft.com/office/powerpoint/2010/main" val="482800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14</a:t>
            </a:fld>
            <a:endParaRPr lang="en-US"/>
          </a:p>
        </p:txBody>
      </p:sp>
    </p:spTree>
    <p:extLst>
      <p:ext uri="{BB962C8B-B14F-4D97-AF65-F5344CB8AC3E}">
        <p14:creationId xmlns:p14="http://schemas.microsoft.com/office/powerpoint/2010/main" val="19365025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15</a:t>
            </a:fld>
            <a:endParaRPr lang="en-US"/>
          </a:p>
        </p:txBody>
      </p:sp>
    </p:spTree>
    <p:extLst>
      <p:ext uri="{BB962C8B-B14F-4D97-AF65-F5344CB8AC3E}">
        <p14:creationId xmlns:p14="http://schemas.microsoft.com/office/powerpoint/2010/main" val="1730951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16</a:t>
            </a:fld>
            <a:endParaRPr lang="en-US"/>
          </a:p>
        </p:txBody>
      </p:sp>
    </p:spTree>
    <p:extLst>
      <p:ext uri="{BB962C8B-B14F-4D97-AF65-F5344CB8AC3E}">
        <p14:creationId xmlns:p14="http://schemas.microsoft.com/office/powerpoint/2010/main" val="36603152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Table 4-1 compares mean pass@1 scores across the three cleaning tiers: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Raw Output:</a:t>
            </a:r>
            <a:r>
              <a:rPr lang="en-US" sz="1200" kern="1200" dirty="0">
                <a:solidFill>
                  <a:schemeClr val="tx1"/>
                </a:solidFill>
                <a:effectLst/>
                <a:latin typeface="+mn-lt"/>
                <a:ea typeface="+mn-ea"/>
                <a:cs typeface="+mn-cs"/>
              </a:rPr>
              <a:t> no cleaning; the results are not useful - there are ~94% of non-executable code (syntax errors or human-like output).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Fence Extraction:</a:t>
            </a:r>
            <a:r>
              <a:rPr lang="en-US" sz="1200" kern="1200" dirty="0">
                <a:solidFill>
                  <a:schemeClr val="tx1"/>
                </a:solidFill>
                <a:effectLst/>
                <a:latin typeface="+mn-lt"/>
                <a:ea typeface="+mn-ea"/>
                <a:cs typeface="+mn-cs"/>
              </a:rPr>
              <a:t> stripping to first code block – much better as there are only ~30% of syntax errors. The overall improvement over raw output is almost 70%.</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Full Cleaning:</a:t>
            </a:r>
            <a:r>
              <a:rPr lang="en-US" sz="1200" kern="1200" dirty="0">
                <a:solidFill>
                  <a:schemeClr val="tx1"/>
                </a:solidFill>
                <a:effectLst/>
                <a:latin typeface="+mn-lt"/>
                <a:ea typeface="+mn-ea"/>
                <a:cs typeface="+mn-cs"/>
              </a:rPr>
              <a:t> Comprehensive artifact removal – this method improves the pass@1 scores on average by ~5%.</a:t>
            </a:r>
          </a:p>
          <a:p>
            <a:r>
              <a:rPr lang="en-US" sz="1200" kern="1200" dirty="0">
                <a:solidFill>
                  <a:schemeClr val="tx1"/>
                </a:solidFill>
                <a:effectLst/>
                <a:latin typeface="+mn-lt"/>
                <a:ea typeface="+mn-ea"/>
                <a:cs typeface="+mn-cs"/>
              </a:rPr>
              <a:t>The full cleaning pipeline improved executable code yield and accounted for nearly three-quarters of the syntax-error reduction, underscoring the paramount importance of post-processing in the automated evaluation of generated code.</a:t>
            </a:r>
            <a:endParaRPr lang="en-US" dirty="0"/>
          </a:p>
        </p:txBody>
      </p:sp>
      <p:sp>
        <p:nvSpPr>
          <p:cNvPr id="4" name="Slide Number Placeholder 3"/>
          <p:cNvSpPr>
            <a:spLocks noGrp="1"/>
          </p:cNvSpPr>
          <p:nvPr>
            <p:ph type="sldNum" sz="quarter" idx="5"/>
          </p:nvPr>
        </p:nvSpPr>
        <p:spPr/>
        <p:txBody>
          <a:bodyPr/>
          <a:lstStyle/>
          <a:p>
            <a:fld id="{5EBCA3DF-41ED-6A49-B789-C85E52FF8DC8}" type="slidenum">
              <a:rPr lang="en-US" smtClean="0"/>
              <a:t>17</a:t>
            </a:fld>
            <a:endParaRPr lang="en-US"/>
          </a:p>
        </p:txBody>
      </p:sp>
    </p:spTree>
    <p:extLst>
      <p:ext uri="{BB962C8B-B14F-4D97-AF65-F5344CB8AC3E}">
        <p14:creationId xmlns:p14="http://schemas.microsoft.com/office/powerpoint/2010/main" val="3251137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sz="1200" kern="1200" dirty="0">
                <a:solidFill>
                  <a:schemeClr val="tx1"/>
                </a:solidFill>
                <a:effectLst/>
                <a:latin typeface="+mn-lt"/>
                <a:ea typeface="+mn-ea"/>
                <a:cs typeface="+mn-cs"/>
              </a:rPr>
              <a:t>Table 4-2 reports mean pass@1 scores under three prompt tiers (Basic, Instructional, Full) on the four benchmarks</a:t>
            </a:r>
            <a:r>
              <a:rPr lang="en-US" dirty="0">
                <a:effectLst/>
              </a:rPr>
              <a:t> </a:t>
            </a:r>
            <a:endParaRPr lang="en-US" sz="1200" b="1"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Basic prompts</a:t>
            </a:r>
            <a:r>
              <a:rPr lang="en-US" sz="1200" kern="1200" dirty="0">
                <a:solidFill>
                  <a:schemeClr val="tx1"/>
                </a:solidFill>
                <a:effectLst/>
                <a:latin typeface="+mn-lt"/>
                <a:ea typeface="+mn-ea"/>
                <a:cs typeface="+mn-cs"/>
              </a:rPr>
              <a:t> demonstrate the best pass score with a mean value of 0.77 across all models.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Instructional prompts</a:t>
            </a:r>
            <a:r>
              <a:rPr lang="en-US" sz="1200" kern="1200" dirty="0">
                <a:solidFill>
                  <a:schemeClr val="tx1"/>
                </a:solidFill>
                <a:effectLst/>
                <a:latin typeface="+mn-lt"/>
                <a:ea typeface="+mn-ea"/>
                <a:cs typeface="+mn-cs"/>
              </a:rPr>
              <a:t> are the next best option with a slightly lower mean value of 0.76 across all models.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Full prompts</a:t>
            </a:r>
            <a:r>
              <a:rPr lang="en-US" sz="1200" kern="1200" dirty="0">
                <a:solidFill>
                  <a:schemeClr val="tx1"/>
                </a:solidFill>
                <a:effectLst/>
                <a:latin typeface="+mn-lt"/>
                <a:ea typeface="+mn-ea"/>
                <a:cs typeface="+mn-cs"/>
              </a:rPr>
              <a:t> (strict “code-only” rules and stepwise instructions) shows a performance that is by ~6% lower than the basic prompt results.</a:t>
            </a:r>
          </a:p>
          <a:p>
            <a:r>
              <a:rPr lang="en-US" sz="1200" kern="1200" dirty="0">
                <a:solidFill>
                  <a:schemeClr val="tx1"/>
                </a:solidFill>
                <a:effectLst/>
                <a:latin typeface="+mn-lt"/>
                <a:ea typeface="+mn-ea"/>
                <a:cs typeface="+mn-cs"/>
              </a:rPr>
              <a:t>Table 4-3 shows the most efficient prompt for each model. The </a:t>
            </a:r>
            <a:r>
              <a:rPr lang="en-US" sz="1200" b="1" kern="1200" dirty="0">
                <a:solidFill>
                  <a:schemeClr val="tx1"/>
                </a:solidFill>
                <a:effectLst/>
                <a:latin typeface="+mn-lt"/>
                <a:ea typeface="+mn-ea"/>
                <a:cs typeface="+mn-cs"/>
              </a:rPr>
              <a:t>basic prompt wins </a:t>
            </a:r>
            <a:r>
              <a:rPr lang="en-US" sz="1200" kern="1200" dirty="0">
                <a:solidFill>
                  <a:schemeClr val="tx1"/>
                </a:solidFill>
                <a:effectLst/>
                <a:latin typeface="+mn-lt"/>
                <a:ea typeface="+mn-ea"/>
                <a:cs typeface="+mn-cs"/>
              </a:rPr>
              <a:t>both by the count in the </a:t>
            </a:r>
            <a:r>
              <a:rPr lang="en-US" sz="1200" i="1" kern="1200" dirty="0">
                <a:solidFill>
                  <a:schemeClr val="tx1"/>
                </a:solidFill>
                <a:effectLst/>
                <a:latin typeface="+mn-lt"/>
                <a:ea typeface="+mn-ea"/>
                <a:cs typeface="+mn-cs"/>
              </a:rPr>
              <a:t>Best Method</a:t>
            </a:r>
            <a:r>
              <a:rPr lang="en-US" sz="1200" kern="1200" dirty="0">
                <a:solidFill>
                  <a:schemeClr val="tx1"/>
                </a:solidFill>
                <a:effectLst/>
                <a:latin typeface="+mn-lt"/>
                <a:ea typeface="+mn-ea"/>
                <a:cs typeface="+mn-cs"/>
              </a:rPr>
              <a:t> column and based on the mean score in the </a:t>
            </a:r>
            <a:r>
              <a:rPr lang="en-US" sz="1200" i="1" kern="1200" dirty="0">
                <a:solidFill>
                  <a:schemeClr val="tx1"/>
                </a:solidFill>
                <a:effectLst/>
                <a:latin typeface="+mn-lt"/>
                <a:ea typeface="+mn-ea"/>
                <a:cs typeface="+mn-cs"/>
              </a:rPr>
              <a:t>mean</a:t>
            </a:r>
            <a:r>
              <a:rPr lang="en-US" sz="1200" kern="1200" dirty="0">
                <a:solidFill>
                  <a:schemeClr val="tx1"/>
                </a:solidFill>
                <a:effectLst/>
                <a:latin typeface="+mn-lt"/>
                <a:ea typeface="+mn-ea"/>
                <a:cs typeface="+mn-cs"/>
              </a:rPr>
              <a:t> row.</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These results demonstrate that</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simpler prompt can do a relatively good job</a:t>
            </a:r>
            <a:r>
              <a:rPr lang="en-US" sz="1200" kern="1200" dirty="0">
                <a:solidFill>
                  <a:schemeClr val="tx1"/>
                </a:solidFill>
                <a:effectLst/>
                <a:latin typeface="+mn-lt"/>
                <a:ea typeface="+mn-ea"/>
                <a:cs typeface="+mn-cs"/>
              </a:rPr>
              <a:t> in code generation.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One would probably </a:t>
            </a:r>
            <a:r>
              <a:rPr lang="en-US" sz="1200" b="1" kern="1200" dirty="0">
                <a:solidFill>
                  <a:schemeClr val="tx1"/>
                </a:solidFill>
                <a:effectLst/>
                <a:latin typeface="+mn-lt"/>
                <a:ea typeface="+mn-ea"/>
                <a:cs typeface="+mn-cs"/>
              </a:rPr>
              <a:t>need a lot of experiments </a:t>
            </a:r>
            <a:r>
              <a:rPr lang="en-US" sz="1200" kern="1200" dirty="0">
                <a:solidFill>
                  <a:schemeClr val="tx1"/>
                </a:solidFill>
                <a:effectLst/>
                <a:latin typeface="+mn-lt"/>
                <a:ea typeface="+mn-ea"/>
                <a:cs typeface="+mn-cs"/>
              </a:rPr>
              <a:t>to produce an efficient full prompt that would contain many rules and that would beat a simple prompt.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Also, it should be noted that the </a:t>
            </a:r>
            <a:r>
              <a:rPr lang="en-US" sz="1200" b="1" kern="1200" dirty="0">
                <a:solidFill>
                  <a:schemeClr val="tx1"/>
                </a:solidFill>
                <a:effectLst/>
                <a:latin typeface="+mn-lt"/>
                <a:ea typeface="+mn-ea"/>
                <a:cs typeface="+mn-cs"/>
              </a:rPr>
              <a:t>prompt performance varies from model to model</a:t>
            </a:r>
            <a:r>
              <a:rPr lang="en-US" sz="1200" kern="1200" dirty="0">
                <a:solidFill>
                  <a:schemeClr val="tx1"/>
                </a:solidFill>
                <a:effectLst/>
                <a:latin typeface="+mn-lt"/>
                <a:ea typeface="+mn-ea"/>
                <a:cs typeface="+mn-cs"/>
              </a:rPr>
              <a:t>: the basic prompt works best for some models, while the instructional prompt works better for other models.</a:t>
            </a:r>
          </a:p>
          <a:p>
            <a:r>
              <a:rPr lang="en-US" sz="1200" kern="1200" dirty="0">
                <a:solidFill>
                  <a:schemeClr val="tx1"/>
                </a:solidFill>
                <a:effectLst/>
                <a:latin typeface="+mn-lt"/>
                <a:ea typeface="+mn-ea"/>
                <a:cs typeface="+mn-cs"/>
              </a:rPr>
              <a:t>In addition, the </a:t>
            </a:r>
            <a:r>
              <a:rPr lang="en-US" sz="1200" b="1" kern="1200" dirty="0">
                <a:solidFill>
                  <a:schemeClr val="tx1"/>
                </a:solidFill>
                <a:effectLst/>
                <a:latin typeface="+mn-lt"/>
                <a:ea typeface="+mn-ea"/>
                <a:cs typeface="+mn-cs"/>
              </a:rPr>
              <a:t>agentic workflow </a:t>
            </a:r>
            <a:r>
              <a:rPr lang="en-US" sz="1200" kern="1200" dirty="0">
                <a:solidFill>
                  <a:schemeClr val="tx1"/>
                </a:solidFill>
                <a:effectLst/>
                <a:latin typeface="+mn-lt"/>
                <a:ea typeface="+mn-ea"/>
                <a:cs typeface="+mn-cs"/>
              </a:rPr>
              <a:t>results demonstrate that </a:t>
            </a:r>
            <a:r>
              <a:rPr lang="en-US" sz="1200" b="1" kern="1200" dirty="0">
                <a:solidFill>
                  <a:schemeClr val="tx1"/>
                </a:solidFill>
                <a:effectLst/>
                <a:latin typeface="+mn-lt"/>
                <a:ea typeface="+mn-ea"/>
                <a:cs typeface="+mn-cs"/>
              </a:rPr>
              <a:t>the full prompt is most efficient for select models</a:t>
            </a:r>
            <a:r>
              <a:rPr lang="en-US" sz="120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5EBCA3DF-41ED-6A49-B789-C85E52FF8DC8}" type="slidenum">
              <a:rPr lang="en-US" smtClean="0"/>
              <a:t>18</a:t>
            </a:fld>
            <a:endParaRPr lang="en-US"/>
          </a:p>
        </p:txBody>
      </p:sp>
    </p:spTree>
    <p:extLst>
      <p:ext uri="{BB962C8B-B14F-4D97-AF65-F5344CB8AC3E}">
        <p14:creationId xmlns:p14="http://schemas.microsoft.com/office/powerpoint/2010/main" val="31206360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19</a:t>
            </a:fld>
            <a:endParaRPr lang="en-US"/>
          </a:p>
        </p:txBody>
      </p:sp>
    </p:spTree>
    <p:extLst>
      <p:ext uri="{BB962C8B-B14F-4D97-AF65-F5344CB8AC3E}">
        <p14:creationId xmlns:p14="http://schemas.microsoft.com/office/powerpoint/2010/main" val="37082079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The table displays the </a:t>
            </a:r>
            <a:r>
              <a:rPr lang="en-US" sz="1200" b="1" kern="1200" dirty="0">
                <a:solidFill>
                  <a:schemeClr val="tx1"/>
                </a:solidFill>
                <a:effectLst/>
                <a:latin typeface="+mn-lt"/>
                <a:ea typeface="+mn-ea"/>
                <a:cs typeface="+mn-cs"/>
              </a:rPr>
              <a:t>normalized average Pass@1 scores </a:t>
            </a:r>
            <a:r>
              <a:rPr lang="en-US" sz="1200" kern="1200" dirty="0">
                <a:solidFill>
                  <a:schemeClr val="tx1"/>
                </a:solidFill>
                <a:effectLst/>
                <a:latin typeface="+mn-lt"/>
                <a:ea typeface="+mn-ea"/>
                <a:cs typeface="+mn-cs"/>
              </a:rPr>
              <a:t>of 15 SLMs evaluated across the four datasets. The models are </a:t>
            </a:r>
            <a:r>
              <a:rPr lang="en-US" sz="1200" b="1" kern="1200" dirty="0">
                <a:solidFill>
                  <a:schemeClr val="tx1"/>
                </a:solidFill>
                <a:effectLst/>
                <a:latin typeface="+mn-lt"/>
                <a:ea typeface="+mn-ea"/>
                <a:cs typeface="+mn-cs"/>
              </a:rPr>
              <a:t>ranked based on their average performance</a:t>
            </a:r>
            <a:r>
              <a:rPr lang="en-US" sz="1200" kern="1200" dirty="0">
                <a:solidFill>
                  <a:schemeClr val="tx1"/>
                </a:solidFill>
                <a:effectLst/>
                <a:latin typeface="+mn-lt"/>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The results demonstrate </a:t>
            </a:r>
            <a:r>
              <a:rPr lang="en-US" sz="1200" b="1" kern="1200" dirty="0">
                <a:solidFill>
                  <a:schemeClr val="tx1"/>
                </a:solidFill>
                <a:effectLst/>
                <a:latin typeface="+mn-lt"/>
                <a:ea typeface="+mn-ea"/>
                <a:cs typeface="+mn-cs"/>
              </a:rPr>
              <a:t>significant variation </a:t>
            </a:r>
            <a:r>
              <a:rPr lang="en-US" sz="1200" kern="1200" dirty="0">
                <a:solidFill>
                  <a:schemeClr val="tx1"/>
                </a:solidFill>
                <a:effectLst/>
                <a:latin typeface="+mn-lt"/>
                <a:ea typeface="+mn-ea"/>
                <a:cs typeface="+mn-cs"/>
              </a:rPr>
              <a:t>in performance both across models and datasets, with several key patterns emerging from the evaluation. As expected, larger models tended to achieve higher accuracy on the public datasets, but </a:t>
            </a:r>
            <a:r>
              <a:rPr lang="en-US" sz="1200" b="1" kern="1200" dirty="0">
                <a:solidFill>
                  <a:schemeClr val="tx1"/>
                </a:solidFill>
                <a:effectLst/>
                <a:latin typeface="+mn-lt"/>
                <a:ea typeface="+mn-ea"/>
                <a:cs typeface="+mn-cs"/>
              </a:rPr>
              <a:t>all models suffered substantial drops on the uncontaminated LBPP and </a:t>
            </a:r>
            <a:r>
              <a:rPr lang="en-US" sz="1200" b="1" kern="1200" dirty="0" err="1">
                <a:solidFill>
                  <a:schemeClr val="tx1"/>
                </a:solidFill>
                <a:effectLst/>
                <a:latin typeface="+mn-lt"/>
                <a:ea typeface="+mn-ea"/>
                <a:cs typeface="+mn-cs"/>
              </a:rPr>
              <a:t>BigCode</a:t>
            </a:r>
            <a:r>
              <a:rPr lang="en-US" sz="1200" b="1" kern="1200" dirty="0">
                <a:solidFill>
                  <a:schemeClr val="tx1"/>
                </a:solidFill>
                <a:effectLst/>
                <a:latin typeface="+mn-lt"/>
                <a:ea typeface="+mn-ea"/>
                <a:cs typeface="+mn-cs"/>
              </a:rPr>
              <a:t> datasets</a:t>
            </a:r>
            <a:r>
              <a:rPr lang="en-US" sz="1200" kern="1200" dirty="0">
                <a:solidFill>
                  <a:schemeClr val="tx1"/>
                </a:solidFill>
                <a:effectLst/>
                <a:latin typeface="+mn-lt"/>
                <a:ea typeface="+mn-ea"/>
                <a:cs typeface="+mn-cs"/>
              </a:rPr>
              <a:t>, confirming concerns about data leakage in more popular datasets. This fact is especially noticed when looking at the raw pass scores before normalization – and this was the main reason for normalizing scores because they LBPP and </a:t>
            </a:r>
            <a:r>
              <a:rPr lang="en-US" sz="1200" kern="1200" dirty="0" err="1">
                <a:solidFill>
                  <a:schemeClr val="tx1"/>
                </a:solidFill>
                <a:effectLst/>
                <a:latin typeface="+mn-lt"/>
                <a:ea typeface="+mn-ea"/>
                <a:cs typeface="+mn-cs"/>
              </a:rPr>
              <a:t>BigCode</a:t>
            </a:r>
            <a:r>
              <a:rPr lang="en-US" sz="1200" kern="1200" dirty="0">
                <a:solidFill>
                  <a:schemeClr val="tx1"/>
                </a:solidFill>
                <a:effectLst/>
                <a:latin typeface="+mn-lt"/>
                <a:ea typeface="+mn-ea"/>
                <a:cs typeface="+mn-cs"/>
              </a:rPr>
              <a:t> scores were much lower.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At the top </a:t>
            </a:r>
            <a:r>
              <a:rPr lang="en-US" sz="1200" kern="1200" dirty="0">
                <a:solidFill>
                  <a:schemeClr val="tx1"/>
                </a:solidFill>
                <a:effectLst/>
                <a:latin typeface="+mn-lt"/>
                <a:ea typeface="+mn-ea"/>
                <a:cs typeface="+mn-cs"/>
              </a:rPr>
              <a:t>of the ranking is CodeQwen1.5-7B-Chat, Nxcode-CQ-7B-orpo and </a:t>
            </a:r>
            <a:r>
              <a:rPr lang="en-US" sz="1200" kern="1200" dirty="0" err="1">
                <a:solidFill>
                  <a:schemeClr val="tx1"/>
                </a:solidFill>
                <a:effectLst/>
                <a:latin typeface="+mn-lt"/>
                <a:ea typeface="+mn-ea"/>
                <a:cs typeface="+mn-cs"/>
              </a:rPr>
              <a:t>codestral_mamba</a:t>
            </a:r>
            <a:r>
              <a:rPr lang="en-US" sz="1200" kern="1200" dirty="0">
                <a:solidFill>
                  <a:schemeClr val="tx1"/>
                </a:solidFill>
                <a:effectLst/>
                <a:latin typeface="+mn-lt"/>
                <a:ea typeface="+mn-ea"/>
                <a:cs typeface="+mn-cs"/>
              </a:rPr>
              <a:t>.</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Mid-ranking models </a:t>
            </a:r>
            <a:r>
              <a:rPr lang="en-US" sz="1200" kern="1200" dirty="0">
                <a:solidFill>
                  <a:schemeClr val="tx1"/>
                </a:solidFill>
                <a:effectLst/>
                <a:latin typeface="+mn-lt"/>
                <a:ea typeface="+mn-ea"/>
                <a:cs typeface="+mn-cs"/>
              </a:rPr>
              <a:t>such as mistral_8B, deepseek-coder-6.7b, OpenCodeInterpreter-DS-6.7B perform well on certain datasets (e.g., </a:t>
            </a:r>
            <a:r>
              <a:rPr lang="en-US" sz="1200" kern="1200" dirty="0" err="1">
                <a:solidFill>
                  <a:schemeClr val="tx1"/>
                </a:solidFill>
                <a:effectLst/>
                <a:latin typeface="+mn-lt"/>
                <a:ea typeface="+mn-ea"/>
                <a:cs typeface="+mn-cs"/>
              </a:rPr>
              <a:t>HumanEval</a:t>
            </a:r>
            <a:r>
              <a:rPr lang="en-US" sz="1200" kern="1200" dirty="0">
                <a:solidFill>
                  <a:schemeClr val="tx1"/>
                </a:solidFill>
                <a:effectLst/>
                <a:latin typeface="+mn-lt"/>
                <a:ea typeface="+mn-ea"/>
                <a:cs typeface="+mn-cs"/>
              </a:rPr>
              <a:t> and MBPP) but have slightly lower scores on LBPP or </a:t>
            </a:r>
            <a:r>
              <a:rPr lang="en-US" sz="1200" kern="1200" dirty="0" err="1">
                <a:solidFill>
                  <a:schemeClr val="tx1"/>
                </a:solidFill>
                <a:effectLst/>
                <a:latin typeface="+mn-lt"/>
                <a:ea typeface="+mn-ea"/>
                <a:cs typeface="+mn-cs"/>
              </a:rPr>
              <a:t>BigCodeBench</a:t>
            </a:r>
            <a:r>
              <a:rPr lang="en-US" sz="1200" kern="1200" dirty="0">
                <a:solidFill>
                  <a:schemeClr val="tx1"/>
                </a:solidFill>
                <a:effectLst/>
                <a:latin typeface="+mn-lt"/>
                <a:ea typeface="+mn-ea"/>
                <a:cs typeface="+mn-cs"/>
              </a:rPr>
              <a:t>, which brings down their average.</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In the lower tier</a:t>
            </a:r>
            <a:r>
              <a:rPr lang="en-US" sz="1200" kern="1200" dirty="0">
                <a:solidFill>
                  <a:schemeClr val="tx1"/>
                </a:solidFill>
                <a:effectLst/>
                <a:latin typeface="+mn-lt"/>
                <a:ea typeface="+mn-ea"/>
                <a:cs typeface="+mn-cs"/>
              </a:rPr>
              <a:t>, models like mistral_3b, Llama-3.1-8B, and </a:t>
            </a:r>
            <a:r>
              <a:rPr lang="en-US" sz="1200" kern="1200" dirty="0" err="1">
                <a:solidFill>
                  <a:schemeClr val="tx1"/>
                </a:solidFill>
                <a:effectLst/>
                <a:latin typeface="+mn-lt"/>
                <a:ea typeface="+mn-ea"/>
                <a:cs typeface="+mn-cs"/>
              </a:rPr>
              <a:t>mistral_nemo</a:t>
            </a:r>
            <a:r>
              <a:rPr lang="en-US" sz="1200" kern="1200" dirty="0">
                <a:solidFill>
                  <a:schemeClr val="tx1"/>
                </a:solidFill>
                <a:effectLst/>
                <a:latin typeface="+mn-lt"/>
                <a:ea typeface="+mn-ea"/>
                <a:cs typeface="+mn-cs"/>
              </a:rPr>
              <a:t> show more variation in performance across datasets, leading to lower average scores.</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At the bottom </a:t>
            </a:r>
            <a:r>
              <a:rPr lang="en-US" sz="1200" kern="1200" dirty="0">
                <a:solidFill>
                  <a:schemeClr val="tx1"/>
                </a:solidFill>
                <a:effectLst/>
                <a:latin typeface="+mn-lt"/>
                <a:ea typeface="+mn-ea"/>
                <a:cs typeface="+mn-cs"/>
              </a:rPr>
              <a:t>of the ranking, Solar-10.7B and the </a:t>
            </a:r>
            <a:r>
              <a:rPr lang="en-US" sz="1200" kern="1200" dirty="0" err="1">
                <a:solidFill>
                  <a:schemeClr val="tx1"/>
                </a:solidFill>
                <a:effectLst/>
                <a:latin typeface="+mn-lt"/>
                <a:ea typeface="+mn-ea"/>
                <a:cs typeface="+mn-cs"/>
              </a:rPr>
              <a:t>phixtal</a:t>
            </a:r>
            <a:r>
              <a:rPr lang="en-US" sz="1200" kern="1200" dirty="0">
                <a:solidFill>
                  <a:schemeClr val="tx1"/>
                </a:solidFill>
                <a:effectLst/>
                <a:latin typeface="+mn-lt"/>
                <a:ea typeface="+mn-ea"/>
                <a:cs typeface="+mn-cs"/>
              </a:rPr>
              <a:t> variants score significantly lower.</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analysis suggests that certain models, </a:t>
            </a:r>
            <a:r>
              <a:rPr lang="en-US" sz="1200" b="1" kern="1200" dirty="0">
                <a:solidFill>
                  <a:schemeClr val="tx1"/>
                </a:solidFill>
                <a:effectLst/>
                <a:latin typeface="+mn-lt"/>
                <a:ea typeface="+mn-ea"/>
                <a:cs typeface="+mn-cs"/>
              </a:rPr>
              <a:t>particularly those tuned for code </a:t>
            </a:r>
            <a:r>
              <a:rPr lang="en-US" sz="1200" kern="1200" dirty="0">
                <a:solidFill>
                  <a:schemeClr val="tx1"/>
                </a:solidFill>
                <a:effectLst/>
                <a:latin typeface="+mn-lt"/>
                <a:ea typeface="+mn-ea"/>
                <a:cs typeface="+mn-cs"/>
              </a:rPr>
              <a:t>(e.g., </a:t>
            </a:r>
            <a:r>
              <a:rPr lang="en-US" sz="1200" kern="1200" dirty="0" err="1">
                <a:solidFill>
                  <a:schemeClr val="tx1"/>
                </a:solidFill>
                <a:effectLst/>
                <a:latin typeface="+mn-lt"/>
                <a:ea typeface="+mn-ea"/>
                <a:cs typeface="+mn-cs"/>
              </a:rPr>
              <a:t>CodeQwen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Nxcode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Codestral</a:t>
            </a:r>
            <a:r>
              <a:rPr lang="en-US" sz="1200" kern="1200" dirty="0">
                <a:solidFill>
                  <a:schemeClr val="tx1"/>
                </a:solidFill>
                <a:effectLst/>
                <a:latin typeface="+mn-lt"/>
                <a:ea typeface="+mn-ea"/>
                <a:cs typeface="+mn-cs"/>
              </a:rPr>
              <a:t>), offer significantly better performance across benchmarks, while others lag behind likely due to weaker specialization or less effective fine-tuning for coding tasks.</a:t>
            </a:r>
          </a:p>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Model Size vs. Performance Correlation</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Small models can be surprisingly competitive</a:t>
            </a:r>
            <a:r>
              <a:rPr lang="en-US" sz="1200" kern="1200" dirty="0">
                <a:solidFill>
                  <a:schemeClr val="tx1"/>
                </a:solidFill>
                <a:effectLst/>
                <a:latin typeface="+mn-lt"/>
                <a:ea typeface="+mn-ea"/>
                <a:cs typeface="+mn-cs"/>
              </a:rPr>
              <a:t>: mistral_3B (3B) ranks 8th overall with a mean score of 0.792, outperforming larger models like </a:t>
            </a:r>
            <a:r>
              <a:rPr lang="en-US" sz="1200" kern="1200" dirty="0" err="1">
                <a:solidFill>
                  <a:schemeClr val="tx1"/>
                </a:solidFill>
                <a:effectLst/>
                <a:latin typeface="+mn-lt"/>
                <a:ea typeface="+mn-ea"/>
                <a:cs typeface="+mn-cs"/>
              </a:rPr>
              <a:t>mistral_nemo</a:t>
            </a:r>
            <a:r>
              <a:rPr lang="en-US" sz="1200" kern="1200" dirty="0">
                <a:solidFill>
                  <a:schemeClr val="tx1"/>
                </a:solidFill>
                <a:effectLst/>
                <a:latin typeface="+mn-lt"/>
                <a:ea typeface="+mn-ea"/>
                <a:cs typeface="+mn-cs"/>
              </a:rPr>
              <a:t> (mean: 0.715), Solar-10.7B (mean: 0.541), and even some mid-sized models.</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largest models perform relatively poorly</a:t>
            </a:r>
            <a:r>
              <a:rPr lang="en-US" sz="1200" kern="1200" dirty="0">
                <a:solidFill>
                  <a:schemeClr val="tx1"/>
                </a:solidFill>
                <a:effectLst/>
                <a:latin typeface="+mn-lt"/>
                <a:ea typeface="+mn-ea"/>
                <a:cs typeface="+mn-cs"/>
              </a:rPr>
              <a:t>: Solar-10.7B, a larger model than 7B models, ranks 15th (last), with the lowest mean score (0.541), </a:t>
            </a:r>
            <a:r>
              <a:rPr lang="en-US" sz="1200" kern="1200" dirty="0" err="1">
                <a:solidFill>
                  <a:schemeClr val="tx1"/>
                </a:solidFill>
                <a:effectLst/>
                <a:latin typeface="+mn-lt"/>
                <a:ea typeface="+mn-ea"/>
                <a:cs typeface="+mn-cs"/>
              </a:rPr>
              <a:t>mistral_nemo</a:t>
            </a:r>
            <a:r>
              <a:rPr lang="en-US" sz="1200" kern="1200" dirty="0">
                <a:solidFill>
                  <a:schemeClr val="tx1"/>
                </a:solidFill>
                <a:effectLst/>
                <a:latin typeface="+mn-lt"/>
                <a:ea typeface="+mn-ea"/>
                <a:cs typeface="+mn-cs"/>
              </a:rPr>
              <a:t>, another large model, ranks 10th with a moderate score (0.715), underperforming compared to many 7B models.</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Sweet spot mid-sized (~7B) models dominate</a:t>
            </a:r>
            <a:r>
              <a:rPr lang="en-US" sz="1200" kern="1200" dirty="0">
                <a:solidFill>
                  <a:schemeClr val="tx1"/>
                </a:solidFill>
                <a:effectLst/>
                <a:latin typeface="+mn-lt"/>
                <a:ea typeface="+mn-ea"/>
                <a:cs typeface="+mn-cs"/>
              </a:rPr>
              <a:t>. The top 7 models — including CodeQwen1.5-7B-Chat, Nxcode-CQ-7B-orpo, </a:t>
            </a:r>
            <a:r>
              <a:rPr lang="en-US" sz="1200" kern="1200" dirty="0" err="1">
                <a:solidFill>
                  <a:schemeClr val="tx1"/>
                </a:solidFill>
                <a:effectLst/>
                <a:latin typeface="+mn-lt"/>
                <a:ea typeface="+mn-ea"/>
                <a:cs typeface="+mn-cs"/>
              </a:rPr>
              <a:t>codestral_mamba</a:t>
            </a:r>
            <a:r>
              <a:rPr lang="en-US" sz="1200" kern="1200" dirty="0">
                <a:solidFill>
                  <a:schemeClr val="tx1"/>
                </a:solidFill>
                <a:effectLst/>
                <a:latin typeface="+mn-lt"/>
                <a:ea typeface="+mn-ea"/>
                <a:cs typeface="+mn-cs"/>
              </a:rPr>
              <a:t>, and others — are all around 7 billion parameters. These models consistently achieve mean scores above 0.82, with the top model scoring 0.865.</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Conclusion: </a:t>
            </a:r>
            <a:r>
              <a:rPr lang="en-US" sz="1200" b="1" kern="1200" dirty="0">
                <a:solidFill>
                  <a:schemeClr val="tx1"/>
                </a:solidFill>
                <a:effectLst/>
                <a:latin typeface="+mn-lt"/>
                <a:ea typeface="+mn-ea"/>
                <a:cs typeface="+mn-cs"/>
              </a:rPr>
              <a:t>model size is not the sole determinant of performance</a:t>
            </a:r>
            <a:r>
              <a:rPr lang="en-US" sz="1200" kern="1200" dirty="0">
                <a:solidFill>
                  <a:schemeClr val="tx1"/>
                </a:solidFill>
                <a:effectLst/>
                <a:latin typeface="+mn-lt"/>
                <a:ea typeface="+mn-ea"/>
                <a:cs typeface="+mn-cs"/>
              </a:rPr>
              <a:t> - larger size does not guarantee better performance.</a:t>
            </a:r>
          </a:p>
        </p:txBody>
      </p:sp>
      <p:sp>
        <p:nvSpPr>
          <p:cNvPr id="4" name="Slide Number Placeholder 3"/>
          <p:cNvSpPr>
            <a:spLocks noGrp="1"/>
          </p:cNvSpPr>
          <p:nvPr>
            <p:ph type="sldNum" sz="quarter" idx="5"/>
          </p:nvPr>
        </p:nvSpPr>
        <p:spPr/>
        <p:txBody>
          <a:bodyPr/>
          <a:lstStyle/>
          <a:p>
            <a:fld id="{5EBCA3DF-41ED-6A49-B789-C85E52FF8DC8}" type="slidenum">
              <a:rPr lang="en-US" smtClean="0"/>
              <a:t>20</a:t>
            </a:fld>
            <a:endParaRPr lang="en-US"/>
          </a:p>
        </p:txBody>
      </p:sp>
    </p:spTree>
    <p:extLst>
      <p:ext uri="{BB962C8B-B14F-4D97-AF65-F5344CB8AC3E}">
        <p14:creationId xmlns:p14="http://schemas.microsoft.com/office/powerpoint/2010/main" val="32432414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Table 4-6 and 4-7 present the results of ranking SLMs by their mean scores across all prompts and datasets and by their maximum scores, respectively.</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reflection agent approach demonstrated an improvements over baseline single-pass generation. On average, reflection agents increased pass@1 by +6 pp over the baseline (mean pass@1 score across all models is 0.805707, while for single-pass models it is 0.748568)</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These results prove Hypothesis 1 of this Praxis confirming that agentic workflows result in higher test-case pass rates than single-pass SLMs, as measured across multiple benchmarks.</a:t>
            </a:r>
            <a:endParaRPr lang="en-US" dirty="0"/>
          </a:p>
        </p:txBody>
      </p:sp>
      <p:sp>
        <p:nvSpPr>
          <p:cNvPr id="4" name="Slide Number Placeholder 3"/>
          <p:cNvSpPr>
            <a:spLocks noGrp="1"/>
          </p:cNvSpPr>
          <p:nvPr>
            <p:ph type="sldNum" sz="quarter" idx="5"/>
          </p:nvPr>
        </p:nvSpPr>
        <p:spPr/>
        <p:txBody>
          <a:bodyPr/>
          <a:lstStyle/>
          <a:p>
            <a:fld id="{5EBCA3DF-41ED-6A49-B789-C85E52FF8DC8}" type="slidenum">
              <a:rPr lang="en-US" smtClean="0"/>
              <a:t>21</a:t>
            </a:fld>
            <a:endParaRPr lang="en-US"/>
          </a:p>
        </p:txBody>
      </p:sp>
    </p:spTree>
    <p:extLst>
      <p:ext uri="{BB962C8B-B14F-4D97-AF65-F5344CB8AC3E}">
        <p14:creationId xmlns:p14="http://schemas.microsoft.com/office/powerpoint/2010/main" val="3049796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These four figures show a comparison of baseline single-pass results and reflection agentic workflow on a per-dataset basis.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They show that using a reflection-based agentic approach consistently improves Pass@1 performance, though the degree of improvement varies by dataset.</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On </a:t>
            </a:r>
            <a:r>
              <a:rPr lang="en-US" sz="1200" kern="1200" dirty="0" err="1">
                <a:solidFill>
                  <a:schemeClr val="tx1"/>
                </a:solidFill>
                <a:effectLst/>
                <a:latin typeface="+mn-lt"/>
                <a:ea typeface="+mn-ea"/>
                <a:cs typeface="+mn-cs"/>
              </a:rPr>
              <a:t>HumanEval</a:t>
            </a:r>
            <a:r>
              <a:rPr lang="en-US" sz="1200" kern="1200" dirty="0">
                <a:solidFill>
                  <a:schemeClr val="tx1"/>
                </a:solidFill>
                <a:effectLst/>
                <a:latin typeface="+mn-lt"/>
                <a:ea typeface="+mn-ea"/>
                <a:cs typeface="+mn-cs"/>
              </a:rPr>
              <a:t> and MBPP, improvements are modest but consistent.</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effect is more pronounced in LBPP, where the reflection workflow results in a 2.53% average improvement and </a:t>
            </a:r>
            <a:r>
              <a:rPr lang="en-US" sz="1200" kern="1200" dirty="0" err="1">
                <a:solidFill>
                  <a:schemeClr val="tx1"/>
                </a:solidFill>
                <a:effectLst/>
                <a:latin typeface="+mn-lt"/>
                <a:ea typeface="+mn-ea"/>
                <a:cs typeface="+mn-cs"/>
              </a:rPr>
              <a:t>BigCodeBench</a:t>
            </a:r>
            <a:r>
              <a:rPr lang="en-US" sz="1200" kern="1200" dirty="0">
                <a:solidFill>
                  <a:schemeClr val="tx1"/>
                </a:solidFill>
                <a:effectLst/>
                <a:latin typeface="+mn-lt"/>
                <a:ea typeface="+mn-ea"/>
                <a:cs typeface="+mn-cs"/>
              </a:rPr>
              <a:t>, with an average improvement of 3.39%.</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It is a critical correlation that the effect from the reflection is considerably greater in the less contaminated datasets</a:t>
            </a:r>
            <a:r>
              <a:rPr lang="en-US" sz="1200" kern="1200" dirty="0">
                <a:solidFill>
                  <a:schemeClr val="tx1"/>
                </a:solidFill>
                <a:effectLst/>
                <a:latin typeface="+mn-lt"/>
                <a:ea typeface="+mn-ea"/>
                <a:cs typeface="+mn-cs"/>
              </a:rPr>
              <a:t>. This can simply mean that if SLMs were trained on </a:t>
            </a:r>
            <a:r>
              <a:rPr lang="en-US" sz="1200" kern="1200" dirty="0" err="1">
                <a:solidFill>
                  <a:schemeClr val="tx1"/>
                </a:solidFill>
                <a:effectLst/>
                <a:latin typeface="+mn-lt"/>
                <a:ea typeface="+mn-ea"/>
                <a:cs typeface="+mn-cs"/>
              </a:rPr>
              <a:t>HumanEval</a:t>
            </a:r>
            <a:r>
              <a:rPr lang="en-US" sz="1200" kern="1200" dirty="0">
                <a:solidFill>
                  <a:schemeClr val="tx1"/>
                </a:solidFill>
                <a:effectLst/>
                <a:latin typeface="+mn-lt"/>
                <a:ea typeface="+mn-ea"/>
                <a:cs typeface="+mn-cs"/>
              </a:rPr>
              <a:t> and MBPP, they get the right answers right away and they don’t need improvements in the form of agents. While agents really help with newer datasets as it should be.</a:t>
            </a:r>
          </a:p>
          <a:p>
            <a:endParaRPr lang="en-US" dirty="0"/>
          </a:p>
        </p:txBody>
      </p:sp>
      <p:sp>
        <p:nvSpPr>
          <p:cNvPr id="4" name="Slide Number Placeholder 3"/>
          <p:cNvSpPr>
            <a:spLocks noGrp="1"/>
          </p:cNvSpPr>
          <p:nvPr>
            <p:ph type="sldNum" sz="quarter" idx="5"/>
          </p:nvPr>
        </p:nvSpPr>
        <p:spPr/>
        <p:txBody>
          <a:bodyPr/>
          <a:lstStyle/>
          <a:p>
            <a:fld id="{5EBCA3DF-41ED-6A49-B789-C85E52FF8DC8}" type="slidenum">
              <a:rPr lang="en-US" smtClean="0"/>
              <a:t>22</a:t>
            </a:fld>
            <a:endParaRPr lang="en-US"/>
          </a:p>
        </p:txBody>
      </p:sp>
    </p:spTree>
    <p:extLst>
      <p:ext uri="{BB962C8B-B14F-4D97-AF65-F5344CB8AC3E}">
        <p14:creationId xmlns:p14="http://schemas.microsoft.com/office/powerpoint/2010/main" val="18150328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Building on reflection, the multi-agent pipeline further improved pass@1 by +0.2pp?? (normalized results) OR +1.4pp (before normalization) compared to the reflection agent results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This is a marginal improvement, and it means that one needs to spend more time</a:t>
            </a:r>
          </a:p>
          <a:p>
            <a:pPr marL="628650" lvl="1" indent="-171450">
              <a:buFont typeface="Wingdings" pitchFamily="2" charset="2"/>
              <a:buChar char="Ø"/>
            </a:pPr>
            <a:r>
              <a:rPr lang="en-US" sz="1200" kern="1200" dirty="0">
                <a:solidFill>
                  <a:schemeClr val="tx1"/>
                </a:solidFill>
                <a:effectLst/>
                <a:latin typeface="+mn-lt"/>
                <a:ea typeface="+mn-ea"/>
                <a:cs typeface="+mn-cs"/>
              </a:rPr>
              <a:t>improving the design of the multi-agent system and,</a:t>
            </a:r>
          </a:p>
          <a:p>
            <a:pPr marL="628650" lvl="1" indent="-171450">
              <a:buFont typeface="Wingdings" pitchFamily="2" charset="2"/>
              <a:buChar char="Ø"/>
            </a:pPr>
            <a:r>
              <a:rPr lang="en-US" sz="1200" kern="1200" dirty="0">
                <a:solidFill>
                  <a:schemeClr val="tx1"/>
                </a:solidFill>
                <a:effectLst/>
                <a:latin typeface="+mn-lt"/>
                <a:ea typeface="+mn-ea"/>
                <a:cs typeface="+mn-cs"/>
              </a:rPr>
              <a:t>doing additional prompt engineering.</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These tables are not very much different from the reflection agent results.</a:t>
            </a:r>
          </a:p>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These results also prove Hypothesis 1 - agentic workflows result in higher test-case pass rates than single-pass SLMs, as measured across multiple benchmarks.</a:t>
            </a:r>
            <a:endParaRPr lang="en-US" dirty="0"/>
          </a:p>
        </p:txBody>
      </p:sp>
      <p:sp>
        <p:nvSpPr>
          <p:cNvPr id="4" name="Slide Number Placeholder 3"/>
          <p:cNvSpPr>
            <a:spLocks noGrp="1"/>
          </p:cNvSpPr>
          <p:nvPr>
            <p:ph type="sldNum" sz="quarter" idx="5"/>
          </p:nvPr>
        </p:nvSpPr>
        <p:spPr/>
        <p:txBody>
          <a:bodyPr/>
          <a:lstStyle/>
          <a:p>
            <a:fld id="{5EBCA3DF-41ED-6A49-B789-C85E52FF8DC8}" type="slidenum">
              <a:rPr lang="en-US" smtClean="0"/>
              <a:t>23</a:t>
            </a:fld>
            <a:endParaRPr lang="en-US"/>
          </a:p>
        </p:txBody>
      </p:sp>
    </p:spTree>
    <p:extLst>
      <p:ext uri="{BB962C8B-B14F-4D97-AF65-F5344CB8AC3E}">
        <p14:creationId xmlns:p14="http://schemas.microsoft.com/office/powerpoint/2010/main" val="28255570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Temperature Optimization at Inference Time</a:t>
            </a:r>
          </a:p>
          <a:p>
            <a:pPr marL="171450" indent="-171450">
              <a:buFont typeface="Arial" panose="020B0604020202020204" pitchFamily="34" charset="0"/>
              <a:buChar char="•"/>
            </a:pPr>
            <a:r>
              <a:rPr lang="en-US" b="1" dirty="0"/>
              <a:t>Temperature range:</a:t>
            </a:r>
            <a:r>
              <a:rPr lang="en-US" dirty="0"/>
              <a:t> Tested at 1.0 (baseline), 0.5, 0.25, and 0.1 across all SLMs on the LBPP dataset.</a:t>
            </a:r>
          </a:p>
          <a:p>
            <a:pPr marL="171450" indent="-171450">
              <a:buFont typeface="Arial" panose="020B0604020202020204" pitchFamily="34" charset="0"/>
              <a:buChar char="•"/>
            </a:pPr>
            <a:r>
              <a:rPr lang="en-US" b="1" dirty="0"/>
              <a:t>Average Gains:</a:t>
            </a:r>
            <a:r>
              <a:rPr lang="en-US" dirty="0"/>
              <a:t> Lowering to t = 0.5 gave a modest </a:t>
            </a:r>
            <a:r>
              <a:rPr lang="en-US" b="1" dirty="0"/>
              <a:t>+0.34 %</a:t>
            </a:r>
            <a:r>
              <a:rPr lang="en-US" dirty="0"/>
              <a:t> boost, t = 0.25 slightly </a:t>
            </a:r>
            <a:r>
              <a:rPr lang="en-US" b="1" dirty="0"/>
              <a:t>–0.07 %</a:t>
            </a:r>
            <a:r>
              <a:rPr lang="en-US" dirty="0"/>
              <a:t>, and t = 0.1 delivered the largest </a:t>
            </a:r>
            <a:r>
              <a:rPr lang="en-US" b="1" dirty="0"/>
              <a:t>+0.96 %</a:t>
            </a:r>
            <a:r>
              <a:rPr lang="en-US" dirty="0"/>
              <a:t> improvement.</a:t>
            </a:r>
          </a:p>
          <a:p>
            <a:pPr marL="171450" indent="-171450">
              <a:buFont typeface="Arial" panose="020B0604020202020204" pitchFamily="34" charset="0"/>
              <a:buChar char="•"/>
            </a:pPr>
            <a:r>
              <a:rPr lang="en-US" b="1" dirty="0"/>
              <a:t>Low‑Performers Benefit Most:</a:t>
            </a:r>
            <a:r>
              <a:rPr lang="en-US" dirty="0"/>
              <a:t> Models like Solar‑10.7B and phixtal‑2x2_8 steadily improved as temperature decreased, showing that reduced sampling entropy helps weaker generators.</a:t>
            </a:r>
          </a:p>
          <a:p>
            <a:pPr marL="171450" indent="-171450">
              <a:buFont typeface="Arial" panose="020B0604020202020204" pitchFamily="34" charset="0"/>
              <a:buChar char="•"/>
            </a:pPr>
            <a:r>
              <a:rPr lang="en-US" b="1" dirty="0"/>
              <a:t>Model‑Dependent Optima:</a:t>
            </a:r>
            <a:r>
              <a:rPr lang="en-US" dirty="0"/>
              <a:t> Some strong models (e.g. Llama‑3.1‑8B) peaked at the default t = 1.0 and declined at lower temperatures, indicating they’re already well‑tuned for diverse outputs.</a:t>
            </a:r>
          </a:p>
          <a:p>
            <a:pPr marL="171450" indent="-171450">
              <a:buFont typeface="Arial" panose="020B0604020202020204" pitchFamily="34" charset="0"/>
              <a:buChar char="•"/>
            </a:pPr>
            <a:r>
              <a:rPr lang="en-US" b="1" dirty="0"/>
              <a:t>Top Performer at Low Temp:</a:t>
            </a:r>
            <a:r>
              <a:rPr lang="en-US" dirty="0"/>
              <a:t> Even high‑performers such as Artigenz‑Coder‑DS‑6.7B saw their best pass@1 at t = 0.1, confirming that aggressive temperature scaling can benefit many architectures</a:t>
            </a:r>
          </a:p>
          <a:p>
            <a:endParaRPr lang="en-US" dirty="0"/>
          </a:p>
          <a:p>
            <a:r>
              <a:rPr lang="en-US" b="1" dirty="0"/>
              <a:t>Top P Optimization at Inference 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Several values for top-p (p∈{1.0, 0.9, 0.8}) were attempted and an analysis of results didn’t confirm any improvements in the pass@1 scores for any of the SLM models when top-p decreases</a:t>
            </a:r>
            <a:r>
              <a:rPr lang="en-US" sz="1200" dirty="0">
                <a:effectLst/>
              </a:rPr>
              <a:t> </a:t>
            </a:r>
            <a:endParaRPr lang="en-US" sz="1200" dirty="0"/>
          </a:p>
          <a:p>
            <a:endParaRPr lang="en-US" dirty="0"/>
          </a:p>
          <a:p>
            <a:r>
              <a:rPr lang="en-US" b="1" dirty="0"/>
              <a:t>SLM Fine-Tuning</a:t>
            </a:r>
          </a:p>
          <a:p>
            <a:pPr marL="171450" indent="-171450">
              <a:buFont typeface="Arial" panose="020B0604020202020204" pitchFamily="34" charset="0"/>
              <a:buChar char="•"/>
            </a:pPr>
            <a:r>
              <a:rPr lang="en-US" dirty="0"/>
              <a:t>Fine‑tuning on a single GPU boosted pass@1 on MBPP by </a:t>
            </a:r>
            <a:r>
              <a:rPr lang="en-US" b="1" dirty="0"/>
              <a:t>+2.99 pp</a:t>
            </a:r>
            <a:r>
              <a:rPr lang="en-US" dirty="0"/>
              <a:t> for Nxcode‑CQ‑7B‑orpo (from 0.74 → 0.7699) and </a:t>
            </a:r>
            <a:r>
              <a:rPr lang="en-US" b="1" dirty="0"/>
              <a:t>+5.1 pp</a:t>
            </a:r>
            <a:r>
              <a:rPr lang="en-US" dirty="0"/>
              <a:t> for Mistral 8B (from 0.594 → 0.645).</a:t>
            </a:r>
          </a:p>
          <a:p>
            <a:pPr marL="171450" indent="-171450">
              <a:buFont typeface="Arial" panose="020B0604020202020204" pitchFamily="34" charset="0"/>
              <a:buChar char="•"/>
            </a:pPr>
            <a:r>
              <a:rPr lang="en-US" dirty="0"/>
              <a:t>This was achieved with a lightweight PEFT pipeline (</a:t>
            </a:r>
            <a:r>
              <a:rPr lang="en-US" dirty="0" err="1"/>
              <a:t>QLoRA</a:t>
            </a:r>
            <a:r>
              <a:rPr lang="en-US" dirty="0"/>
              <a:t> quantization, transformers, torch, </a:t>
            </a:r>
            <a:r>
              <a:rPr lang="en-US" dirty="0" err="1"/>
              <a:t>peft</a:t>
            </a:r>
            <a:r>
              <a:rPr lang="en-US" dirty="0"/>
              <a:t>, </a:t>
            </a:r>
            <a:r>
              <a:rPr lang="en-US" dirty="0" err="1"/>
              <a:t>trl</a:t>
            </a:r>
            <a:r>
              <a:rPr lang="en-US" dirty="0"/>
              <a:t>) that compresses weights to 4 bit and updates only a small subset of parameters—enabling efficient fine‑tuning on modest hardware.</a:t>
            </a:r>
          </a:p>
          <a:p>
            <a:pPr marL="171450" indent="-171450">
              <a:buFont typeface="Arial" panose="020B0604020202020204" pitchFamily="34" charset="0"/>
              <a:buChar char="•"/>
            </a:pPr>
            <a:r>
              <a:rPr lang="en-US" dirty="0"/>
              <a:t>These results confirm Hypothesis 3: targeted, domain‑specific fine‑tuning substantially improves SLM code‑generation quality. What’s more important – this is achieved even in low‑compute environments.</a:t>
            </a:r>
          </a:p>
          <a:p>
            <a:endParaRPr lang="en-US" dirty="0"/>
          </a:p>
        </p:txBody>
      </p:sp>
      <p:sp>
        <p:nvSpPr>
          <p:cNvPr id="4" name="Slide Number Placeholder 3"/>
          <p:cNvSpPr>
            <a:spLocks noGrp="1"/>
          </p:cNvSpPr>
          <p:nvPr>
            <p:ph type="sldNum" sz="quarter" idx="5"/>
          </p:nvPr>
        </p:nvSpPr>
        <p:spPr/>
        <p:txBody>
          <a:bodyPr/>
          <a:lstStyle/>
          <a:p>
            <a:fld id="{5EBCA3DF-41ED-6A49-B789-C85E52FF8DC8}" type="slidenum">
              <a:rPr lang="en-US" smtClean="0"/>
              <a:t>24</a:t>
            </a:fld>
            <a:endParaRPr lang="en-US"/>
          </a:p>
        </p:txBody>
      </p:sp>
    </p:spTree>
    <p:extLst>
      <p:ext uri="{BB962C8B-B14F-4D97-AF65-F5344CB8AC3E}">
        <p14:creationId xmlns:p14="http://schemas.microsoft.com/office/powerpoint/2010/main" val="39813925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most frequent </a:t>
            </a:r>
            <a:r>
              <a:rPr lang="en-US" sz="1200" kern="1200" dirty="0">
                <a:solidFill>
                  <a:schemeClr val="tx1"/>
                </a:solidFill>
                <a:effectLst/>
                <a:latin typeface="+mn-lt"/>
                <a:ea typeface="+mn-ea"/>
                <a:cs typeface="+mn-cs"/>
              </a:rPr>
              <a:t>exception by far for three out the four benchmark datasets is </a:t>
            </a:r>
            <a:r>
              <a:rPr lang="en-US" sz="1200" b="1" kern="1200" dirty="0" err="1">
                <a:solidFill>
                  <a:schemeClr val="tx1"/>
                </a:solidFill>
                <a:effectLst/>
                <a:latin typeface="+mn-lt"/>
                <a:ea typeface="+mn-ea"/>
                <a:cs typeface="+mn-cs"/>
              </a:rPr>
              <a:t>AssertionError</a:t>
            </a:r>
            <a:r>
              <a:rPr lang="en-US" sz="1200" kern="1200" dirty="0">
                <a:solidFill>
                  <a:schemeClr val="tx1"/>
                </a:solidFill>
                <a:effectLst/>
                <a:latin typeface="+mn-lt"/>
                <a:ea typeface="+mn-ea"/>
                <a:cs typeface="+mn-cs"/>
              </a:rPr>
              <a:t>, which simply indicates that the generated code failed one or more test cases. Unfortunately, no further detail is available because the asserts did not include custom messages (they were written as assert &lt;condition&gt;).</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In addition, </a:t>
            </a:r>
            <a:r>
              <a:rPr lang="en-US" sz="1200" b="1" kern="1200" dirty="0" err="1">
                <a:solidFill>
                  <a:schemeClr val="tx1"/>
                </a:solidFill>
                <a:effectLst/>
                <a:latin typeface="+mn-lt"/>
                <a:ea typeface="+mn-ea"/>
                <a:cs typeface="+mn-cs"/>
              </a:rPr>
              <a:t>TypeError</a:t>
            </a:r>
            <a:r>
              <a:rPr lang="en-US" sz="1200" kern="1200" dirty="0">
                <a:solidFill>
                  <a:schemeClr val="tx1"/>
                </a:solidFill>
                <a:effectLst/>
                <a:latin typeface="+mn-lt"/>
                <a:ea typeface="+mn-ea"/>
                <a:cs typeface="+mn-cs"/>
              </a:rPr>
              <a:t> appears near the top in every dataset and becomes the number-one error on </a:t>
            </a:r>
            <a:r>
              <a:rPr lang="en-US" sz="1200" kern="1200" dirty="0" err="1">
                <a:solidFill>
                  <a:schemeClr val="tx1"/>
                </a:solidFill>
                <a:effectLst/>
                <a:latin typeface="+mn-lt"/>
                <a:ea typeface="+mn-ea"/>
                <a:cs typeface="+mn-cs"/>
              </a:rPr>
              <a:t>BigCodeBench</a:t>
            </a:r>
            <a:r>
              <a:rPr lang="en-US" sz="1200" kern="1200" dirty="0">
                <a:solidFill>
                  <a:schemeClr val="tx1"/>
                </a:solidFill>
                <a:effectLst/>
                <a:latin typeface="+mn-lt"/>
                <a:ea typeface="+mn-ea"/>
                <a:cs typeface="+mn-cs"/>
              </a:rPr>
              <a:t>, underscoring that argument mismatches and improper type usage are a universal weakness in autoregressive code models.</a:t>
            </a:r>
          </a:p>
          <a:p>
            <a:pPr marL="171450" indent="-171450">
              <a:buFont typeface="Arial" panose="020B0604020202020204" pitchFamily="34" charset="0"/>
              <a:buChar char="•"/>
            </a:pPr>
            <a:r>
              <a:rPr lang="en-US" sz="1200" b="1" kern="1200" dirty="0" err="1">
                <a:solidFill>
                  <a:schemeClr val="tx1"/>
                </a:solidFill>
                <a:effectLst/>
                <a:latin typeface="+mn-lt"/>
                <a:ea typeface="+mn-ea"/>
                <a:cs typeface="+mn-cs"/>
              </a:rPr>
              <a:t>SyntaxError</a:t>
            </a:r>
            <a:r>
              <a:rPr lang="en-US" sz="1200" kern="1200" dirty="0">
                <a:solidFill>
                  <a:schemeClr val="tx1"/>
                </a:solidFill>
                <a:effectLst/>
                <a:latin typeface="+mn-lt"/>
                <a:ea typeface="+mn-ea"/>
                <a:cs typeface="+mn-cs"/>
              </a:rPr>
              <a:t> and </a:t>
            </a:r>
            <a:r>
              <a:rPr lang="en-US" sz="1200" b="1" kern="1200" dirty="0" err="1">
                <a:solidFill>
                  <a:schemeClr val="tx1"/>
                </a:solidFill>
                <a:effectLst/>
                <a:latin typeface="+mn-lt"/>
                <a:ea typeface="+mn-ea"/>
                <a:cs typeface="+mn-cs"/>
              </a:rPr>
              <a:t>IndentationError</a:t>
            </a:r>
            <a:r>
              <a:rPr lang="en-US" sz="1200" kern="1200" dirty="0">
                <a:solidFill>
                  <a:schemeClr val="tx1"/>
                </a:solidFill>
                <a:effectLst/>
                <a:latin typeface="+mn-lt"/>
                <a:ea typeface="+mn-ea"/>
                <a:cs typeface="+mn-cs"/>
              </a:rPr>
              <a:t> show up most when the tasks require more elaborate code constructs (LBPP, </a:t>
            </a:r>
            <a:r>
              <a:rPr lang="en-US" sz="1200" kern="1200" dirty="0" err="1">
                <a:solidFill>
                  <a:schemeClr val="tx1"/>
                </a:solidFill>
                <a:effectLst/>
                <a:latin typeface="+mn-lt"/>
                <a:ea typeface="+mn-ea"/>
                <a:cs typeface="+mn-cs"/>
              </a:rPr>
              <a:t>BigCodeBench</a:t>
            </a:r>
            <a:r>
              <a:rPr lang="en-US" sz="1200" kern="1200" dirty="0">
                <a:solidFill>
                  <a:schemeClr val="tx1"/>
                </a:solidFill>
                <a:effectLst/>
                <a:latin typeface="+mn-lt"/>
                <a:ea typeface="+mn-ea"/>
                <a:cs typeface="+mn-cs"/>
              </a:rPr>
              <a:t>)</a:t>
            </a:r>
            <a:r>
              <a:rPr lang="en-US" dirty="0">
                <a:effectLst/>
              </a:rPr>
              <a:t> </a:t>
            </a:r>
            <a:endParaRPr lang="en-US" dirty="0"/>
          </a:p>
        </p:txBody>
      </p:sp>
      <p:sp>
        <p:nvSpPr>
          <p:cNvPr id="4" name="Slide Number Placeholder 3"/>
          <p:cNvSpPr>
            <a:spLocks noGrp="1"/>
          </p:cNvSpPr>
          <p:nvPr>
            <p:ph type="sldNum" sz="quarter" idx="5"/>
          </p:nvPr>
        </p:nvSpPr>
        <p:spPr/>
        <p:txBody>
          <a:bodyPr/>
          <a:lstStyle/>
          <a:p>
            <a:fld id="{5EBCA3DF-41ED-6A49-B789-C85E52FF8DC8}" type="slidenum">
              <a:rPr lang="en-US" smtClean="0"/>
              <a:t>25</a:t>
            </a:fld>
            <a:endParaRPr lang="en-US"/>
          </a:p>
        </p:txBody>
      </p:sp>
    </p:spTree>
    <p:extLst>
      <p:ext uri="{BB962C8B-B14F-4D97-AF65-F5344CB8AC3E}">
        <p14:creationId xmlns:p14="http://schemas.microsoft.com/office/powerpoint/2010/main" val="22948107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Table 4-11 shows the four benchmark datasets ranked by the average latency of one inference call. This information was parsed from the logs for each API call and then aggregated.</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Across the four code-generation benchmarks, one can see a clear rise in latency as tasks become longer, more complex, and—critically—uncontaminated.</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MBPP runs fastest at 7.59 s per average sample and </a:t>
            </a:r>
            <a:r>
              <a:rPr lang="en-US" sz="1200" kern="1200" dirty="0" err="1">
                <a:solidFill>
                  <a:schemeClr val="tx1"/>
                </a:solidFill>
                <a:effectLst/>
                <a:latin typeface="+mn-lt"/>
                <a:ea typeface="+mn-ea"/>
                <a:cs typeface="+mn-cs"/>
              </a:rPr>
              <a:t>HumanEval</a:t>
            </a:r>
            <a:r>
              <a:rPr lang="en-US" sz="1200" kern="1200" dirty="0">
                <a:solidFill>
                  <a:schemeClr val="tx1"/>
                </a:solidFill>
                <a:effectLst/>
                <a:latin typeface="+mn-lt"/>
                <a:ea typeface="+mn-ea"/>
                <a:cs typeface="+mn-cs"/>
              </a:rPr>
              <a:t> at 7.74 s, both of which include some publicly exposed examples.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In contrast, </a:t>
            </a:r>
            <a:r>
              <a:rPr lang="en-US" sz="1200" kern="1200" dirty="0" err="1">
                <a:solidFill>
                  <a:schemeClr val="tx1"/>
                </a:solidFill>
                <a:effectLst/>
                <a:latin typeface="+mn-lt"/>
                <a:ea typeface="+mn-ea"/>
                <a:cs typeface="+mn-cs"/>
              </a:rPr>
              <a:t>BigCodeBench</a:t>
            </a:r>
            <a:r>
              <a:rPr lang="en-US" sz="1200" kern="1200" dirty="0">
                <a:solidFill>
                  <a:schemeClr val="tx1"/>
                </a:solidFill>
                <a:effectLst/>
                <a:latin typeface="+mn-lt"/>
                <a:ea typeface="+mn-ea"/>
                <a:cs typeface="+mn-cs"/>
              </a:rPr>
              <a:t> (a non-contaminated, real-world code suite) averages 14.48 s, and LBPP (a strictly held-out, non-contaminated benchmark) is slowest at 18.40 s—reflecting their heavier test harnesses and the extra sandboxing overhead required to enforce clean evaluation.</a:t>
            </a:r>
            <a:endParaRPr lang="en-US" dirty="0">
              <a:effectLst/>
            </a:endParaRPr>
          </a:p>
          <a:p>
            <a:endParaRPr lang="en-US" dirty="0">
              <a:effectLst/>
            </a:endParaRPr>
          </a:p>
          <a:p>
            <a:r>
              <a:rPr lang="en-US" sz="1200" kern="1200" dirty="0">
                <a:solidFill>
                  <a:schemeClr val="tx1"/>
                </a:solidFill>
                <a:effectLst/>
                <a:latin typeface="+mn-lt"/>
                <a:ea typeface="+mn-ea"/>
                <a:cs typeface="+mn-cs"/>
              </a:rPr>
              <a:t>Table 4-12 ranks SLMs by the average latency of one inference call. Inference latency varies dramatically by model.</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Mistral models (Nemo, 7B, 8B and </a:t>
            </a:r>
            <a:r>
              <a:rPr lang="en-US" sz="1200" kern="1200" dirty="0" err="1">
                <a:solidFill>
                  <a:schemeClr val="tx1"/>
                </a:solidFill>
                <a:effectLst/>
                <a:latin typeface="+mn-lt"/>
                <a:ea typeface="+mn-ea"/>
                <a:cs typeface="+mn-cs"/>
              </a:rPr>
              <a:t>Codestral</a:t>
            </a:r>
            <a:r>
              <a:rPr lang="en-US" sz="1200" kern="1200" dirty="0">
                <a:solidFill>
                  <a:schemeClr val="tx1"/>
                </a:solidFill>
                <a:effectLst/>
                <a:latin typeface="+mn-lt"/>
                <a:ea typeface="+mn-ea"/>
                <a:cs typeface="+mn-cs"/>
              </a:rPr>
              <a:t> Mamba) called via the Mistral AI API achieved the quickest turn-around (2.6–3.8 s) thanks to highly optimized remote endpoints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In contrast, all other 7B-scale models—CodeQwen1.5-7B-Chat (8.2 s), DeepSeek-Coder-6.7B (8.8 s), Nxcode-CQ-7B-orpo (9.3 s), Codegemma-7B-it (9.8 s) and Meta-Llama-3.1-8B-Instruct (13.5 s)—were run in Google </a:t>
            </a:r>
            <a:r>
              <a:rPr lang="en-US" sz="1200" kern="1200" dirty="0" err="1">
                <a:solidFill>
                  <a:schemeClr val="tx1"/>
                </a:solidFill>
                <a:effectLst/>
                <a:latin typeface="+mn-lt"/>
                <a:ea typeface="+mn-ea"/>
                <a:cs typeface="+mn-cs"/>
              </a:rPr>
              <a:t>Colab</a:t>
            </a:r>
            <a:r>
              <a:rPr lang="en-US" sz="1200" kern="1200" dirty="0">
                <a:solidFill>
                  <a:schemeClr val="tx1"/>
                </a:solidFill>
                <a:effectLst/>
                <a:latin typeface="+mn-lt"/>
                <a:ea typeface="+mn-ea"/>
                <a:cs typeface="+mn-cs"/>
              </a:rPr>
              <a:t>, where the inference on the A100 GPUs roughly double their per-sample times.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Heavier or quantized variants like Phixtral-2x2_8 (27.6 s) and Nous-Hermes-2-Solar-10.7B (30 s) suffered additional API and compute overheads.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Inference via </a:t>
            </a:r>
            <a:r>
              <a:rPr lang="en-US" sz="1200" kern="1200" dirty="0" err="1">
                <a:solidFill>
                  <a:schemeClr val="tx1"/>
                </a:solidFill>
                <a:effectLst/>
                <a:latin typeface="+mn-lt"/>
                <a:ea typeface="+mn-ea"/>
                <a:cs typeface="+mn-cs"/>
              </a:rPr>
              <a:t>Replicate.com</a:t>
            </a:r>
            <a:r>
              <a:rPr lang="en-US" sz="1200" kern="1200" dirty="0">
                <a:solidFill>
                  <a:schemeClr val="tx1"/>
                </a:solidFill>
                <a:effectLst/>
                <a:latin typeface="+mn-lt"/>
                <a:ea typeface="+mn-ea"/>
                <a:cs typeface="+mn-cs"/>
              </a:rPr>
              <a:t> proved the slowest: models like Qwen1.5-7B and </a:t>
            </a:r>
            <a:r>
              <a:rPr lang="en-US" sz="1200" kern="1200" dirty="0" err="1">
                <a:solidFill>
                  <a:schemeClr val="tx1"/>
                </a:solidFill>
                <a:effectLst/>
                <a:latin typeface="+mn-lt"/>
                <a:ea typeface="+mn-ea"/>
                <a:cs typeface="+mn-cs"/>
              </a:rPr>
              <a:t>Phixtral</a:t>
            </a:r>
            <a:r>
              <a:rPr lang="en-US" sz="1200" kern="1200" dirty="0">
                <a:solidFill>
                  <a:schemeClr val="tx1"/>
                </a:solidFill>
                <a:effectLst/>
                <a:latin typeface="+mn-lt"/>
                <a:ea typeface="+mn-ea"/>
                <a:cs typeface="+mn-cs"/>
              </a:rPr>
              <a:t> often required 200–300 seconds per call. This bottleneck dramatically extended the overall runtime, especially on larger benchmarks such as MBPP (≈500 samples), where the total evaluation time became prohibitive.</a:t>
            </a:r>
            <a:r>
              <a:rPr lang="en-US" dirty="0">
                <a:effectLst/>
              </a:rPr>
              <a:t> </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Table 4-13 ranks prompts by the average latency of one inference call – we can see something very interesting</a:t>
            </a:r>
            <a:endParaRPr lang="en-US" dirty="0"/>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full-instruction templates run fastest.</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Dropping the “full” guardrails slows things down, and the slowest are the basic prompts.</a:t>
            </a:r>
          </a:p>
          <a:p>
            <a:pPr marL="171450" indent="-171450">
              <a:buFont typeface="Arial" panose="020B0604020202020204" pitchFamily="34" charset="0"/>
              <a:buChar char="•"/>
            </a:pPr>
            <a:r>
              <a:rPr lang="en-US" sz="1200" kern="1200" dirty="0" err="1">
                <a:solidFill>
                  <a:schemeClr val="tx1"/>
                </a:solidFill>
                <a:effectLst/>
                <a:latin typeface="+mn-lt"/>
                <a:ea typeface="+mn-ea"/>
                <a:cs typeface="+mn-cs"/>
              </a:rPr>
              <a:t>Reasopn</a:t>
            </a:r>
            <a:r>
              <a:rPr lang="en-US" sz="1200" kern="1200" dirty="0">
                <a:solidFill>
                  <a:schemeClr val="tx1"/>
                </a:solidFill>
                <a:effectLst/>
                <a:latin typeface="+mn-lt"/>
                <a:ea typeface="+mn-ea"/>
                <a:cs typeface="+mn-cs"/>
              </a:rPr>
              <a:t>: almost all of the wall-clock delay in these calls is in the token generation step (not “reading” the prompt). Therefore, a longer, more detailed “full” prompt shrinks the model’s output by telling the model to emit only the exact code and nothing else—so it ends up generating far fewer tokens overall. On the contrary, a vague basic brief prompt causes the model to ramble, repeat itself, or wrap code in extra explanation.</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VERY IMPORTANT FOR ACCURACY VS. COST TRADE-OFF – shorter prompts generated higher pass rates.</a:t>
            </a:r>
          </a:p>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a:p>
            <a:pPr marL="0" indent="0">
              <a:buFont typeface="Arial" panose="020B0604020202020204" pitchFamily="34" charset="0"/>
              <a:buNone/>
            </a:pPr>
            <a:r>
              <a:rPr lang="en-US" sz="1200" kern="1200" dirty="0">
                <a:solidFill>
                  <a:schemeClr val="tx1"/>
                </a:solidFill>
                <a:effectLst/>
                <a:latin typeface="+mn-lt"/>
                <a:ea typeface="+mn-ea"/>
                <a:cs typeface="+mn-cs"/>
              </a:rPr>
              <a:t>Table 4-14 highlights costs by experiment by hosting platform.</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Mistral AI API is by far the most cost-effective way to run code-generation experiments (just $0.01–0.15 per full benchmark run, depending on model).</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Widely used Google </a:t>
            </a:r>
            <a:r>
              <a:rPr lang="en-US" sz="1200" kern="1200" dirty="0" err="1">
                <a:solidFill>
                  <a:schemeClr val="tx1"/>
                </a:solidFill>
                <a:effectLst/>
                <a:latin typeface="+mn-lt"/>
                <a:ea typeface="+mn-ea"/>
                <a:cs typeface="+mn-cs"/>
              </a:rPr>
              <a:t>Colab</a:t>
            </a:r>
            <a:r>
              <a:rPr lang="en-US" sz="1200" kern="1200" dirty="0">
                <a:solidFill>
                  <a:schemeClr val="tx1"/>
                </a:solidFill>
                <a:effectLst/>
                <a:latin typeface="+mn-lt"/>
                <a:ea typeface="+mn-ea"/>
                <a:cs typeface="+mn-cs"/>
              </a:rPr>
              <a:t> Pro+ comes next at an estimated $0.65–2.00 per experiment followed by Replicate ($0.02–3.55).</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This breakdown underscores that for large-scale or frequent benchmarking, API-based access to optimized hosted endpoints can slash your bill compared to general-purpose notebook subscriptions or ad-hoc cloud calls</a:t>
            </a:r>
            <a:r>
              <a:rPr lang="en-US" dirty="0">
                <a:effectLst/>
              </a:rPr>
              <a:t>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EBCA3DF-41ED-6A49-B789-C85E52FF8DC8}" type="slidenum">
              <a:rPr lang="en-US" smtClean="0"/>
              <a:t>26</a:t>
            </a:fld>
            <a:endParaRPr lang="en-US"/>
          </a:p>
        </p:txBody>
      </p:sp>
    </p:spTree>
    <p:extLst>
      <p:ext uri="{BB962C8B-B14F-4D97-AF65-F5344CB8AC3E}">
        <p14:creationId xmlns:p14="http://schemas.microsoft.com/office/powerpoint/2010/main" val="28003046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Table 5-1 shows the total and average numbers of input (prompt) and output (generated) tokens per one experiment under this Praxis.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r>
              <a:rPr lang="en-US" sz="1200" dirty="0"/>
              <a:t>An 8B-parameter SLM model can be fine-tuned on a single GPU, as demonstrated in this Praxis. By contrast, a 70B-parameter LLM holds about 140 GB of weights in FP16 (16-bit floating-point - bytes per parameter) and therefore requires four 40 GB A100 GPUs to fine-tune. According to Amazon (2025), an on-demand g4dn.12xlarge instance (4 GPUs) costs $3.90/hour, while a single-GPU g4dn.2xlarge instance (32 GB RAM) costs around $0.75/hour. Hardware cost savings: deploying or fine-tuning an SLM on one GPU instead of the multi-GPU setup needed for a 70B LLM cuts hardware expenses by roughly 84%.</a:t>
            </a:r>
          </a:p>
          <a:p>
            <a:endParaRPr lang="en-US" sz="1200" dirty="0"/>
          </a:p>
          <a:p>
            <a:r>
              <a:rPr lang="en-US" sz="1200" b="0" dirty="0"/>
              <a:t>Faster latency </a:t>
            </a:r>
            <a:r>
              <a:rPr lang="en-US" sz="1200" b="1" dirty="0"/>
              <a:t>by 33%</a:t>
            </a:r>
            <a:r>
              <a:rPr lang="en-US" sz="1200" dirty="0"/>
              <a:t> directly reduces developer wait times and thus boost productivity.</a:t>
            </a:r>
          </a:p>
        </p:txBody>
      </p:sp>
      <p:sp>
        <p:nvSpPr>
          <p:cNvPr id="4" name="Slide Number Placeholder 3"/>
          <p:cNvSpPr>
            <a:spLocks noGrp="1"/>
          </p:cNvSpPr>
          <p:nvPr>
            <p:ph type="sldNum" sz="quarter" idx="5"/>
          </p:nvPr>
        </p:nvSpPr>
        <p:spPr/>
        <p:txBody>
          <a:bodyPr/>
          <a:lstStyle/>
          <a:p>
            <a:fld id="{5EBCA3DF-41ED-6A49-B789-C85E52FF8DC8}" type="slidenum">
              <a:rPr lang="en-US" smtClean="0"/>
              <a:t>27</a:t>
            </a:fld>
            <a:endParaRPr lang="en-US"/>
          </a:p>
        </p:txBody>
      </p:sp>
    </p:spTree>
    <p:extLst>
      <p:ext uri="{BB962C8B-B14F-4D97-AF65-F5344CB8AC3E}">
        <p14:creationId xmlns:p14="http://schemas.microsoft.com/office/powerpoint/2010/main" val="17209398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28</a:t>
            </a:fld>
            <a:endParaRPr lang="en-US"/>
          </a:p>
        </p:txBody>
      </p:sp>
    </p:spTree>
    <p:extLst>
      <p:ext uri="{BB962C8B-B14F-4D97-AF65-F5344CB8AC3E}">
        <p14:creationId xmlns:p14="http://schemas.microsoft.com/office/powerpoint/2010/main" val="4312544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lgn="just">
              <a:buFont typeface="Arial" panose="020B0604020202020204" pitchFamily="34" charset="0"/>
              <a:buChar char="•"/>
            </a:pPr>
            <a:r>
              <a:rPr lang="en-US" sz="1200" b="1" dirty="0"/>
              <a:t>Post-processing is critical:</a:t>
            </a:r>
            <a:r>
              <a:rPr lang="en-US" sz="1200" dirty="0"/>
              <a:t> the three-stage pipeline raised average pass@1 from 5.6% (raw) to 70.0% (fence-extracted) and 74.9% (full cleaning), with full cleaning yielding the best executability across all models.</a:t>
            </a:r>
          </a:p>
          <a:p>
            <a:pPr marL="171450" lvl="0" indent="-171450" algn="just">
              <a:buFont typeface="Arial" panose="020B0604020202020204" pitchFamily="34" charset="0"/>
              <a:buChar char="•"/>
            </a:pPr>
            <a:r>
              <a:rPr lang="en-US" sz="1200" b="1" dirty="0"/>
              <a:t>Simpler prompts often win:</a:t>
            </a:r>
            <a:r>
              <a:rPr lang="en-US" sz="1200" dirty="0"/>
              <a:t> basic prompts achieved a mean pass@1 of 0.767 versus 0.760 for instructional and 0.718 for “full” prompts, underscoring that concise, clear directives can outperform elaborate guardrails.</a:t>
            </a:r>
          </a:p>
          <a:p>
            <a:pPr marL="171450" lvl="0" indent="-171450" algn="just">
              <a:buFont typeface="Arial" panose="020B0604020202020204" pitchFamily="34" charset="0"/>
              <a:buChar char="•"/>
            </a:pPr>
            <a:r>
              <a:rPr lang="en-US" sz="1200" b="1" dirty="0"/>
              <a:t>7 B models dominate:</a:t>
            </a:r>
            <a:r>
              <a:rPr lang="en-US" sz="1200" dirty="0"/>
              <a:t> CodeQwen1.5-7B-Chat (mean 0.865) and Nxcode-CQ-7B-orpo (0.856) top the leaderboards, while very small (&lt; 4 B) and very large (&gt; 10 B) models underperform, revealing a “sweet spot” around 7 B parameters.</a:t>
            </a:r>
          </a:p>
          <a:p>
            <a:pPr marL="171450" lvl="0" indent="-171450" algn="just">
              <a:buFont typeface="Arial" panose="020B0604020202020204" pitchFamily="34" charset="0"/>
              <a:buChar char="•"/>
            </a:pPr>
            <a:r>
              <a:rPr lang="en-US" sz="1200" b="1" dirty="0"/>
              <a:t>Data-leakage penalty:</a:t>
            </a:r>
            <a:r>
              <a:rPr lang="en-US" sz="1200" dirty="0"/>
              <a:t> all models suffer steep drops on the uncontaminated LBPP and </a:t>
            </a:r>
            <a:r>
              <a:rPr lang="en-US" sz="1200" dirty="0" err="1"/>
              <a:t>BigCodeBench</a:t>
            </a:r>
            <a:r>
              <a:rPr lang="en-US" sz="1200" dirty="0"/>
              <a:t> datasets (e.g. top models fall from ~98% on MBPP/</a:t>
            </a:r>
            <a:r>
              <a:rPr lang="en-US" sz="1200" dirty="0" err="1"/>
              <a:t>HumanEval</a:t>
            </a:r>
            <a:r>
              <a:rPr lang="en-US" sz="1200" dirty="0"/>
              <a:t> to ~80% on LBPP), validating the need for held-out benchmarks.</a:t>
            </a:r>
          </a:p>
          <a:p>
            <a:pPr marL="171450" lvl="0" indent="-171450" algn="just">
              <a:buFont typeface="Arial" panose="020B0604020202020204" pitchFamily="34" charset="0"/>
              <a:buChar char="•"/>
            </a:pPr>
            <a:r>
              <a:rPr lang="en-US" sz="1200" b="1" dirty="0"/>
              <a:t>Reflection boosts quality:</a:t>
            </a:r>
            <a:r>
              <a:rPr lang="en-US" sz="1200" dirty="0"/>
              <a:t> a two-stage self-critique workflow adds </a:t>
            </a:r>
            <a:r>
              <a:rPr lang="en-US" sz="1200" b="1" dirty="0"/>
              <a:t>+6 pp on average</a:t>
            </a:r>
            <a:r>
              <a:rPr lang="en-US" sz="1200" dirty="0"/>
              <a:t>.</a:t>
            </a:r>
          </a:p>
          <a:p>
            <a:pPr marL="171450" lvl="0" indent="-171450" algn="just">
              <a:buFont typeface="Arial" panose="020B0604020202020204" pitchFamily="34" charset="0"/>
              <a:buChar char="•"/>
            </a:pPr>
            <a:r>
              <a:rPr lang="en-US" sz="1200" b="1" dirty="0"/>
              <a:t>Temperature tuning helps selectively:</a:t>
            </a:r>
            <a:r>
              <a:rPr lang="en-US" sz="1200" dirty="0"/>
              <a:t> lowering temperature to </a:t>
            </a:r>
            <a:r>
              <a:rPr lang="en-US" sz="1200" b="1" dirty="0"/>
              <a:t>0.1</a:t>
            </a:r>
            <a:r>
              <a:rPr lang="en-US" sz="1200" dirty="0"/>
              <a:t> yields up to </a:t>
            </a:r>
            <a:r>
              <a:rPr lang="en-US" sz="1200" b="1" dirty="0"/>
              <a:t>+0.96%</a:t>
            </a:r>
            <a:r>
              <a:rPr lang="en-US" sz="1200" dirty="0"/>
              <a:t> on LBPP, though optimal settings vary by model; nucleus sampling (</a:t>
            </a:r>
            <a:r>
              <a:rPr lang="en-US" sz="1200" dirty="0" err="1"/>
              <a:t>top_p</a:t>
            </a:r>
            <a:r>
              <a:rPr lang="en-US" sz="1200" dirty="0"/>
              <a:t>) showed no consistent benefit.</a:t>
            </a:r>
          </a:p>
          <a:p>
            <a:pPr marL="171450" lvl="0" indent="-171450" algn="just">
              <a:buFont typeface="Arial" panose="020B0604020202020204" pitchFamily="34" charset="0"/>
              <a:buChar char="•"/>
            </a:pPr>
            <a:r>
              <a:rPr lang="en-US" sz="1200" b="1" dirty="0"/>
              <a:t>Fine-tuning proves effective:</a:t>
            </a:r>
            <a:r>
              <a:rPr lang="en-US" sz="1200" dirty="0"/>
              <a:t> </a:t>
            </a:r>
            <a:r>
              <a:rPr lang="en-US" sz="1200" dirty="0" err="1"/>
              <a:t>QLoRA</a:t>
            </a:r>
            <a:r>
              <a:rPr lang="en-US" sz="1200" dirty="0"/>
              <a:t>-based adaptation on MBPP gave </a:t>
            </a:r>
            <a:r>
              <a:rPr lang="en-US" sz="1200" b="1" dirty="0"/>
              <a:t>+3 pp</a:t>
            </a:r>
            <a:r>
              <a:rPr lang="en-US" sz="1200" dirty="0"/>
              <a:t> (</a:t>
            </a:r>
            <a:r>
              <a:rPr lang="en-US" sz="1200" dirty="0" err="1"/>
              <a:t>Nxcode</a:t>
            </a:r>
            <a:r>
              <a:rPr lang="en-US" sz="1200" dirty="0"/>
              <a:t>) and </a:t>
            </a:r>
            <a:r>
              <a:rPr lang="en-US" sz="1200" b="1" dirty="0"/>
              <a:t>+5 pp</a:t>
            </a:r>
            <a:r>
              <a:rPr lang="en-US" sz="1200" dirty="0"/>
              <a:t> (Mistral 8B), demonstrating that even lightweight, domain-specific tuning materially improves pass@1.</a:t>
            </a:r>
          </a:p>
          <a:p>
            <a:pPr marL="171450" lvl="0" indent="-171450" algn="just">
              <a:buFont typeface="Arial" panose="020B0604020202020204" pitchFamily="34" charset="0"/>
              <a:buChar char="•"/>
            </a:pPr>
            <a:r>
              <a:rPr lang="en-US" sz="1200" b="1" dirty="0"/>
              <a:t>Error modes expose weaknesses:</a:t>
            </a:r>
            <a:r>
              <a:rPr lang="en-US" sz="1200" dirty="0"/>
              <a:t> </a:t>
            </a:r>
            <a:r>
              <a:rPr lang="en-US" sz="1200" dirty="0" err="1"/>
              <a:t>AssertionError</a:t>
            </a:r>
            <a:r>
              <a:rPr lang="en-US" sz="1200" dirty="0"/>
              <a:t> dominates unit-test failures on structured benchmarks (</a:t>
            </a:r>
            <a:r>
              <a:rPr lang="en-US" sz="1200" dirty="0" err="1"/>
              <a:t>HumanEval</a:t>
            </a:r>
            <a:r>
              <a:rPr lang="en-US" sz="1200" dirty="0"/>
              <a:t> 628, MBPP 2665, LBPP 1113), while </a:t>
            </a:r>
            <a:r>
              <a:rPr lang="en-US" sz="1200" dirty="0" err="1"/>
              <a:t>TypeError</a:t>
            </a:r>
            <a:r>
              <a:rPr lang="en-US" sz="1200" dirty="0"/>
              <a:t> leads on </a:t>
            </a:r>
            <a:r>
              <a:rPr lang="en-US" sz="1200" dirty="0" err="1"/>
              <a:t>BigCodeBench</a:t>
            </a:r>
            <a:r>
              <a:rPr lang="en-US" sz="1200" dirty="0"/>
              <a:t> (3997), highlighting universal challenges with test-case correctness and type handling.</a:t>
            </a:r>
          </a:p>
          <a:p>
            <a:pPr marL="171450" lvl="0" indent="-171450" algn="just">
              <a:buFont typeface="Arial" panose="020B0604020202020204" pitchFamily="34" charset="0"/>
              <a:buChar char="•"/>
            </a:pPr>
            <a:r>
              <a:rPr lang="en-US" sz="1200" b="1" dirty="0"/>
              <a:t>Latency scales with complexity:</a:t>
            </a:r>
            <a:r>
              <a:rPr lang="en-US" sz="1200" dirty="0"/>
              <a:t> per-sample inference takes ~7.6 s on MBPP/</a:t>
            </a:r>
            <a:r>
              <a:rPr lang="en-US" sz="1200" dirty="0" err="1"/>
              <a:t>HumanEval</a:t>
            </a:r>
            <a:r>
              <a:rPr lang="en-US" sz="1200" dirty="0"/>
              <a:t>, ~14.5 s on </a:t>
            </a:r>
            <a:r>
              <a:rPr lang="en-US" sz="1200" dirty="0" err="1"/>
              <a:t>BigCodeBench</a:t>
            </a:r>
            <a:r>
              <a:rPr lang="en-US" sz="1200" dirty="0"/>
              <a:t>, and ~18.4 s on LBPP, reflecting longer prompts and heavier test harnesses.</a:t>
            </a:r>
          </a:p>
          <a:p>
            <a:pPr marL="171450" lvl="0" indent="-171450" algn="just">
              <a:buFont typeface="Arial" panose="020B0604020202020204" pitchFamily="34" charset="0"/>
              <a:buChar char="•"/>
            </a:pPr>
            <a:r>
              <a:rPr lang="en-US" sz="1200" b="1" dirty="0"/>
              <a:t>Execution environment matters:</a:t>
            </a:r>
            <a:r>
              <a:rPr lang="en-US" sz="1200" dirty="0"/>
              <a:t> Mistral-API models are fastest (2.6–3.8 s), </a:t>
            </a:r>
            <a:r>
              <a:rPr lang="en-US" sz="1200" dirty="0" err="1"/>
              <a:t>Colab</a:t>
            </a:r>
            <a:r>
              <a:rPr lang="en-US" sz="1200" dirty="0"/>
              <a:t>-hosted 7 B models run in ~8–13 s, and Replicate calls can spike to 200–300 s—crucial for throughput planning.</a:t>
            </a:r>
          </a:p>
          <a:p>
            <a:pPr marL="171450" lvl="0" indent="-171450" algn="just">
              <a:buFont typeface="Arial" panose="020B0604020202020204" pitchFamily="34" charset="0"/>
              <a:buChar char="•"/>
            </a:pPr>
            <a:r>
              <a:rPr lang="en-US" sz="1200" b="1" dirty="0"/>
              <a:t>Cost trade-offs:</a:t>
            </a:r>
            <a:r>
              <a:rPr lang="en-US" sz="1200" dirty="0"/>
              <a:t> Mistral AI API is most economical at </a:t>
            </a:r>
            <a:r>
              <a:rPr lang="en-US" sz="1200" b="1" dirty="0"/>
              <a:t>$0.01–0.15</a:t>
            </a:r>
            <a:r>
              <a:rPr lang="en-US" sz="1200" dirty="0"/>
              <a:t> per full run, Google </a:t>
            </a:r>
            <a:r>
              <a:rPr lang="en-US" sz="1200" dirty="0" err="1"/>
              <a:t>Colab</a:t>
            </a:r>
            <a:r>
              <a:rPr lang="en-US" sz="1200" dirty="0"/>
              <a:t> Pro+ (500 compute units/month) costs </a:t>
            </a:r>
            <a:r>
              <a:rPr lang="en-US" sz="1200" b="1" dirty="0"/>
              <a:t>$0.65–2.00</a:t>
            </a:r>
            <a:r>
              <a:rPr lang="en-US" sz="1200" dirty="0"/>
              <a:t> per experiment, and Replicate varies </a:t>
            </a:r>
            <a:r>
              <a:rPr lang="en-US" sz="1200" b="1" dirty="0"/>
              <a:t>$0.02–3.55</a:t>
            </a:r>
            <a:r>
              <a:rPr lang="en-US" sz="1200" dirty="0"/>
              <a:t>, guiding platform choice for scale.</a:t>
            </a:r>
          </a:p>
        </p:txBody>
      </p:sp>
      <p:sp>
        <p:nvSpPr>
          <p:cNvPr id="4" name="Slide Number Placeholder 3"/>
          <p:cNvSpPr>
            <a:spLocks noGrp="1"/>
          </p:cNvSpPr>
          <p:nvPr>
            <p:ph type="sldNum" sz="quarter" idx="5"/>
          </p:nvPr>
        </p:nvSpPr>
        <p:spPr/>
        <p:txBody>
          <a:bodyPr/>
          <a:lstStyle/>
          <a:p>
            <a:fld id="{5EBCA3DF-41ED-6A49-B789-C85E52FF8DC8}" type="slidenum">
              <a:rPr lang="en-US" smtClean="0"/>
              <a:t>29</a:t>
            </a:fld>
            <a:endParaRPr lang="en-US"/>
          </a:p>
        </p:txBody>
      </p:sp>
    </p:spTree>
    <p:extLst>
      <p:ext uri="{BB962C8B-B14F-4D97-AF65-F5344CB8AC3E}">
        <p14:creationId xmlns:p14="http://schemas.microsoft.com/office/powerpoint/2010/main" val="19167730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30</a:t>
            </a:fld>
            <a:endParaRPr lang="en-US"/>
          </a:p>
        </p:txBody>
      </p:sp>
    </p:spTree>
    <p:extLst>
      <p:ext uri="{BB962C8B-B14F-4D97-AF65-F5344CB8AC3E}">
        <p14:creationId xmlns:p14="http://schemas.microsoft.com/office/powerpoint/2010/main" val="36267874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31</a:t>
            </a:fld>
            <a:endParaRPr lang="en-US"/>
          </a:p>
        </p:txBody>
      </p:sp>
    </p:spTree>
    <p:extLst>
      <p:ext uri="{BB962C8B-B14F-4D97-AF65-F5344CB8AC3E}">
        <p14:creationId xmlns:p14="http://schemas.microsoft.com/office/powerpoint/2010/main" val="42391448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32</a:t>
            </a:fld>
            <a:endParaRPr lang="en-US"/>
          </a:p>
        </p:txBody>
      </p:sp>
    </p:spTree>
    <p:extLst>
      <p:ext uri="{BB962C8B-B14F-4D97-AF65-F5344CB8AC3E}">
        <p14:creationId xmlns:p14="http://schemas.microsoft.com/office/powerpoint/2010/main" val="23198345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33</a:t>
            </a:fld>
            <a:endParaRPr lang="en-US"/>
          </a:p>
        </p:txBody>
      </p:sp>
    </p:spTree>
    <p:extLst>
      <p:ext uri="{BB962C8B-B14F-4D97-AF65-F5344CB8AC3E}">
        <p14:creationId xmlns:p14="http://schemas.microsoft.com/office/powerpoint/2010/main" val="15145278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BCA3DF-41ED-6A49-B789-C85E52FF8DC8}" type="slidenum">
              <a:rPr lang="en-US" smtClean="0"/>
              <a:t>34</a:t>
            </a:fld>
            <a:endParaRPr lang="en-US"/>
          </a:p>
        </p:txBody>
      </p:sp>
    </p:spTree>
    <p:extLst>
      <p:ext uri="{BB962C8B-B14F-4D97-AF65-F5344CB8AC3E}">
        <p14:creationId xmlns:p14="http://schemas.microsoft.com/office/powerpoint/2010/main" val="631622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C2B81-139E-2E96-6EA9-3F4762CBD2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17BEEA-3F70-478C-96DA-09B3E817EC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C85605-6381-1118-3F78-2695E190CBDC}"/>
              </a:ext>
            </a:extLst>
          </p:cNvPr>
          <p:cNvSpPr>
            <a:spLocks noGrp="1"/>
          </p:cNvSpPr>
          <p:nvPr>
            <p:ph type="dt" sz="half" idx="10"/>
          </p:nvPr>
        </p:nvSpPr>
        <p:spPr/>
        <p:txBody>
          <a:bodyPr/>
          <a:lstStyle/>
          <a:p>
            <a:fld id="{B95F8593-4080-CD46-9971-0A899B59E1DB}" type="datetimeFigureOut">
              <a:rPr lang="en-US" smtClean="0"/>
              <a:t>7/12/25</a:t>
            </a:fld>
            <a:endParaRPr lang="en-US"/>
          </a:p>
        </p:txBody>
      </p:sp>
      <p:sp>
        <p:nvSpPr>
          <p:cNvPr id="5" name="Footer Placeholder 4">
            <a:extLst>
              <a:ext uri="{FF2B5EF4-FFF2-40B4-BE49-F238E27FC236}">
                <a16:creationId xmlns:a16="http://schemas.microsoft.com/office/drawing/2014/main" id="{7AB31533-3EDC-A224-32B4-0191D86638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0558B5-5767-14C5-1BE2-BD87A32C171D}"/>
              </a:ext>
            </a:extLst>
          </p:cNvPr>
          <p:cNvSpPr>
            <a:spLocks noGrp="1"/>
          </p:cNvSpPr>
          <p:nvPr>
            <p:ph type="sldNum" sz="quarter" idx="12"/>
          </p:nvPr>
        </p:nvSpPr>
        <p:spPr/>
        <p:txBody>
          <a:bodyPr/>
          <a:lstStyle/>
          <a:p>
            <a:fld id="{BBD6AD26-B719-EF43-8058-5A33E93B09DE}" type="slidenum">
              <a:rPr lang="en-US" smtClean="0"/>
              <a:t>‹#›</a:t>
            </a:fld>
            <a:endParaRPr lang="en-US"/>
          </a:p>
        </p:txBody>
      </p:sp>
    </p:spTree>
    <p:extLst>
      <p:ext uri="{BB962C8B-B14F-4D97-AF65-F5344CB8AC3E}">
        <p14:creationId xmlns:p14="http://schemas.microsoft.com/office/powerpoint/2010/main" val="1573972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04453-4CDC-53E2-41F8-9714E7504E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0F92E5-07F3-FA3C-0666-50DBC12C63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F78FD1-F81D-5449-C00D-7811FC2294CF}"/>
              </a:ext>
            </a:extLst>
          </p:cNvPr>
          <p:cNvSpPr>
            <a:spLocks noGrp="1"/>
          </p:cNvSpPr>
          <p:nvPr>
            <p:ph type="dt" sz="half" idx="10"/>
          </p:nvPr>
        </p:nvSpPr>
        <p:spPr/>
        <p:txBody>
          <a:bodyPr/>
          <a:lstStyle/>
          <a:p>
            <a:fld id="{B95F8593-4080-CD46-9971-0A899B59E1DB}" type="datetimeFigureOut">
              <a:rPr lang="en-US" smtClean="0"/>
              <a:t>7/12/25</a:t>
            </a:fld>
            <a:endParaRPr lang="en-US"/>
          </a:p>
        </p:txBody>
      </p:sp>
      <p:sp>
        <p:nvSpPr>
          <p:cNvPr id="5" name="Footer Placeholder 4">
            <a:extLst>
              <a:ext uri="{FF2B5EF4-FFF2-40B4-BE49-F238E27FC236}">
                <a16:creationId xmlns:a16="http://schemas.microsoft.com/office/drawing/2014/main" id="{FE78ED1D-4D0C-DDF7-50A9-F478FB2015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3707A0-D8B0-EEC0-0383-91F6EEBEFB77}"/>
              </a:ext>
            </a:extLst>
          </p:cNvPr>
          <p:cNvSpPr>
            <a:spLocks noGrp="1"/>
          </p:cNvSpPr>
          <p:nvPr>
            <p:ph type="sldNum" sz="quarter" idx="12"/>
          </p:nvPr>
        </p:nvSpPr>
        <p:spPr/>
        <p:txBody>
          <a:bodyPr/>
          <a:lstStyle/>
          <a:p>
            <a:fld id="{BBD6AD26-B719-EF43-8058-5A33E93B09DE}" type="slidenum">
              <a:rPr lang="en-US" smtClean="0"/>
              <a:t>‹#›</a:t>
            </a:fld>
            <a:endParaRPr lang="en-US"/>
          </a:p>
        </p:txBody>
      </p:sp>
    </p:spTree>
    <p:extLst>
      <p:ext uri="{BB962C8B-B14F-4D97-AF65-F5344CB8AC3E}">
        <p14:creationId xmlns:p14="http://schemas.microsoft.com/office/powerpoint/2010/main" val="2061613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33B9C-2E05-20F1-10F1-DAD2F76B12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077E5E-6348-13AB-E4C3-6E3A93EF45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FF26BD-5520-7D99-96AE-F5357E25B9B5}"/>
              </a:ext>
            </a:extLst>
          </p:cNvPr>
          <p:cNvSpPr>
            <a:spLocks noGrp="1"/>
          </p:cNvSpPr>
          <p:nvPr>
            <p:ph type="dt" sz="half" idx="10"/>
          </p:nvPr>
        </p:nvSpPr>
        <p:spPr/>
        <p:txBody>
          <a:bodyPr/>
          <a:lstStyle/>
          <a:p>
            <a:fld id="{B95F8593-4080-CD46-9971-0A899B59E1DB}" type="datetimeFigureOut">
              <a:rPr lang="en-US" smtClean="0"/>
              <a:t>7/12/25</a:t>
            </a:fld>
            <a:endParaRPr lang="en-US"/>
          </a:p>
        </p:txBody>
      </p:sp>
      <p:sp>
        <p:nvSpPr>
          <p:cNvPr id="5" name="Footer Placeholder 4">
            <a:extLst>
              <a:ext uri="{FF2B5EF4-FFF2-40B4-BE49-F238E27FC236}">
                <a16:creationId xmlns:a16="http://schemas.microsoft.com/office/drawing/2014/main" id="{FF6AC471-DDB6-AE35-BF88-AECDC42CC8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FA9DB2-ECB3-819E-62E6-218355FFB21D}"/>
              </a:ext>
            </a:extLst>
          </p:cNvPr>
          <p:cNvSpPr>
            <a:spLocks noGrp="1"/>
          </p:cNvSpPr>
          <p:nvPr>
            <p:ph type="sldNum" sz="quarter" idx="12"/>
          </p:nvPr>
        </p:nvSpPr>
        <p:spPr/>
        <p:txBody>
          <a:bodyPr/>
          <a:lstStyle/>
          <a:p>
            <a:fld id="{BBD6AD26-B719-EF43-8058-5A33E93B09DE}" type="slidenum">
              <a:rPr lang="en-US" smtClean="0"/>
              <a:t>‹#›</a:t>
            </a:fld>
            <a:endParaRPr lang="en-US"/>
          </a:p>
        </p:txBody>
      </p:sp>
    </p:spTree>
    <p:extLst>
      <p:ext uri="{BB962C8B-B14F-4D97-AF65-F5344CB8AC3E}">
        <p14:creationId xmlns:p14="http://schemas.microsoft.com/office/powerpoint/2010/main" val="3550635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D4A5-3646-2DC0-ADDE-83EBE23658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ABB762-23A9-DA63-DD26-FA41EC72D5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59011D-8AA7-FAE3-7337-FC180D2229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6E8C7C-7EB3-4945-FC8F-EDBCCA019478}"/>
              </a:ext>
            </a:extLst>
          </p:cNvPr>
          <p:cNvSpPr>
            <a:spLocks noGrp="1"/>
          </p:cNvSpPr>
          <p:nvPr>
            <p:ph type="dt" sz="half" idx="10"/>
          </p:nvPr>
        </p:nvSpPr>
        <p:spPr/>
        <p:txBody>
          <a:bodyPr/>
          <a:lstStyle/>
          <a:p>
            <a:fld id="{B95F8593-4080-CD46-9971-0A899B59E1DB}" type="datetimeFigureOut">
              <a:rPr lang="en-US" smtClean="0"/>
              <a:t>7/12/25</a:t>
            </a:fld>
            <a:endParaRPr lang="en-US"/>
          </a:p>
        </p:txBody>
      </p:sp>
      <p:sp>
        <p:nvSpPr>
          <p:cNvPr id="6" name="Footer Placeholder 5">
            <a:extLst>
              <a:ext uri="{FF2B5EF4-FFF2-40B4-BE49-F238E27FC236}">
                <a16:creationId xmlns:a16="http://schemas.microsoft.com/office/drawing/2014/main" id="{45D54A4E-D06D-72D8-A7F4-0A7EDBA619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5EEC84-7D50-874F-82FF-A001E6934B37}"/>
              </a:ext>
            </a:extLst>
          </p:cNvPr>
          <p:cNvSpPr>
            <a:spLocks noGrp="1"/>
          </p:cNvSpPr>
          <p:nvPr>
            <p:ph type="sldNum" sz="quarter" idx="12"/>
          </p:nvPr>
        </p:nvSpPr>
        <p:spPr/>
        <p:txBody>
          <a:bodyPr/>
          <a:lstStyle/>
          <a:p>
            <a:fld id="{BBD6AD26-B719-EF43-8058-5A33E93B09DE}" type="slidenum">
              <a:rPr lang="en-US" smtClean="0"/>
              <a:t>‹#›</a:t>
            </a:fld>
            <a:endParaRPr lang="en-US"/>
          </a:p>
        </p:txBody>
      </p:sp>
    </p:spTree>
    <p:extLst>
      <p:ext uri="{BB962C8B-B14F-4D97-AF65-F5344CB8AC3E}">
        <p14:creationId xmlns:p14="http://schemas.microsoft.com/office/powerpoint/2010/main" val="1003567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20357-5255-3375-C7F7-04EF990352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054B9B-4EC2-EB1A-AF9D-3F95E68769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9FED7C-0675-4953-1373-AADFB6B640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A8C0AB-C032-9BEF-7C08-ED1B31A444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57D7C2-CB4D-0DDE-292F-F51C18D2D2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CCEE65-609A-7086-FDA9-F492D8C273BD}"/>
              </a:ext>
            </a:extLst>
          </p:cNvPr>
          <p:cNvSpPr>
            <a:spLocks noGrp="1"/>
          </p:cNvSpPr>
          <p:nvPr>
            <p:ph type="dt" sz="half" idx="10"/>
          </p:nvPr>
        </p:nvSpPr>
        <p:spPr/>
        <p:txBody>
          <a:bodyPr/>
          <a:lstStyle/>
          <a:p>
            <a:fld id="{B95F8593-4080-CD46-9971-0A899B59E1DB}" type="datetimeFigureOut">
              <a:rPr lang="en-US" smtClean="0"/>
              <a:t>7/12/25</a:t>
            </a:fld>
            <a:endParaRPr lang="en-US"/>
          </a:p>
        </p:txBody>
      </p:sp>
      <p:sp>
        <p:nvSpPr>
          <p:cNvPr id="8" name="Footer Placeholder 7">
            <a:extLst>
              <a:ext uri="{FF2B5EF4-FFF2-40B4-BE49-F238E27FC236}">
                <a16:creationId xmlns:a16="http://schemas.microsoft.com/office/drawing/2014/main" id="{51AA16C7-242E-F608-B850-79CA51460B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98CA76-F546-87E6-FAD1-FC363516E3AD}"/>
              </a:ext>
            </a:extLst>
          </p:cNvPr>
          <p:cNvSpPr>
            <a:spLocks noGrp="1"/>
          </p:cNvSpPr>
          <p:nvPr>
            <p:ph type="sldNum" sz="quarter" idx="12"/>
          </p:nvPr>
        </p:nvSpPr>
        <p:spPr/>
        <p:txBody>
          <a:bodyPr/>
          <a:lstStyle/>
          <a:p>
            <a:fld id="{BBD6AD26-B719-EF43-8058-5A33E93B09DE}" type="slidenum">
              <a:rPr lang="en-US" smtClean="0"/>
              <a:t>‹#›</a:t>
            </a:fld>
            <a:endParaRPr lang="en-US"/>
          </a:p>
        </p:txBody>
      </p:sp>
    </p:spTree>
    <p:extLst>
      <p:ext uri="{BB962C8B-B14F-4D97-AF65-F5344CB8AC3E}">
        <p14:creationId xmlns:p14="http://schemas.microsoft.com/office/powerpoint/2010/main" val="1085461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07E9-8483-6EB1-13F2-75D9A9D1B60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BB0670-E00C-BB40-68A0-8E9879004807}"/>
              </a:ext>
            </a:extLst>
          </p:cNvPr>
          <p:cNvSpPr>
            <a:spLocks noGrp="1"/>
          </p:cNvSpPr>
          <p:nvPr>
            <p:ph type="dt" sz="half" idx="10"/>
          </p:nvPr>
        </p:nvSpPr>
        <p:spPr/>
        <p:txBody>
          <a:bodyPr/>
          <a:lstStyle/>
          <a:p>
            <a:fld id="{B95F8593-4080-CD46-9971-0A899B59E1DB}" type="datetimeFigureOut">
              <a:rPr lang="en-US" smtClean="0"/>
              <a:t>7/12/25</a:t>
            </a:fld>
            <a:endParaRPr lang="en-US"/>
          </a:p>
        </p:txBody>
      </p:sp>
      <p:sp>
        <p:nvSpPr>
          <p:cNvPr id="4" name="Footer Placeholder 3">
            <a:extLst>
              <a:ext uri="{FF2B5EF4-FFF2-40B4-BE49-F238E27FC236}">
                <a16:creationId xmlns:a16="http://schemas.microsoft.com/office/drawing/2014/main" id="{71A07AC8-79A2-F133-727D-B33D052890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5FCB61-3FFD-1DF9-7C3E-6E2960B78428}"/>
              </a:ext>
            </a:extLst>
          </p:cNvPr>
          <p:cNvSpPr>
            <a:spLocks noGrp="1"/>
          </p:cNvSpPr>
          <p:nvPr>
            <p:ph type="sldNum" sz="quarter" idx="12"/>
          </p:nvPr>
        </p:nvSpPr>
        <p:spPr/>
        <p:txBody>
          <a:bodyPr/>
          <a:lstStyle/>
          <a:p>
            <a:fld id="{BBD6AD26-B719-EF43-8058-5A33E93B09DE}" type="slidenum">
              <a:rPr lang="en-US" smtClean="0"/>
              <a:t>‹#›</a:t>
            </a:fld>
            <a:endParaRPr lang="en-US"/>
          </a:p>
        </p:txBody>
      </p:sp>
    </p:spTree>
    <p:extLst>
      <p:ext uri="{BB962C8B-B14F-4D97-AF65-F5344CB8AC3E}">
        <p14:creationId xmlns:p14="http://schemas.microsoft.com/office/powerpoint/2010/main" val="2352059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A44C9D-D1B3-F67F-36F2-39CD4F704A3D}"/>
              </a:ext>
            </a:extLst>
          </p:cNvPr>
          <p:cNvSpPr>
            <a:spLocks noGrp="1"/>
          </p:cNvSpPr>
          <p:nvPr>
            <p:ph type="dt" sz="half" idx="10"/>
          </p:nvPr>
        </p:nvSpPr>
        <p:spPr/>
        <p:txBody>
          <a:bodyPr/>
          <a:lstStyle/>
          <a:p>
            <a:fld id="{B95F8593-4080-CD46-9971-0A899B59E1DB}" type="datetimeFigureOut">
              <a:rPr lang="en-US" smtClean="0"/>
              <a:t>7/12/25</a:t>
            </a:fld>
            <a:endParaRPr lang="en-US"/>
          </a:p>
        </p:txBody>
      </p:sp>
      <p:sp>
        <p:nvSpPr>
          <p:cNvPr id="3" name="Footer Placeholder 2">
            <a:extLst>
              <a:ext uri="{FF2B5EF4-FFF2-40B4-BE49-F238E27FC236}">
                <a16:creationId xmlns:a16="http://schemas.microsoft.com/office/drawing/2014/main" id="{E6CD30A6-A80E-C35F-A7DC-7FDFB25E1C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036FC1-99E8-06BA-B736-F802A453EEE4}"/>
              </a:ext>
            </a:extLst>
          </p:cNvPr>
          <p:cNvSpPr>
            <a:spLocks noGrp="1"/>
          </p:cNvSpPr>
          <p:nvPr>
            <p:ph type="sldNum" sz="quarter" idx="12"/>
          </p:nvPr>
        </p:nvSpPr>
        <p:spPr/>
        <p:txBody>
          <a:bodyPr/>
          <a:lstStyle/>
          <a:p>
            <a:fld id="{BBD6AD26-B719-EF43-8058-5A33E93B09DE}" type="slidenum">
              <a:rPr lang="en-US" smtClean="0"/>
              <a:t>‹#›</a:t>
            </a:fld>
            <a:endParaRPr lang="en-US"/>
          </a:p>
        </p:txBody>
      </p:sp>
    </p:spTree>
    <p:extLst>
      <p:ext uri="{BB962C8B-B14F-4D97-AF65-F5344CB8AC3E}">
        <p14:creationId xmlns:p14="http://schemas.microsoft.com/office/powerpoint/2010/main" val="500721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EF31D-130A-D2B6-18AA-F730B94CD8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32169D-1868-1813-2BCB-880C0E259B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25827A-980E-D7B3-F2A9-F6C9FB941D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58F804-0B8B-507A-304A-45C94CCF4734}"/>
              </a:ext>
            </a:extLst>
          </p:cNvPr>
          <p:cNvSpPr>
            <a:spLocks noGrp="1"/>
          </p:cNvSpPr>
          <p:nvPr>
            <p:ph type="dt" sz="half" idx="10"/>
          </p:nvPr>
        </p:nvSpPr>
        <p:spPr/>
        <p:txBody>
          <a:bodyPr/>
          <a:lstStyle/>
          <a:p>
            <a:fld id="{B95F8593-4080-CD46-9971-0A899B59E1DB}" type="datetimeFigureOut">
              <a:rPr lang="en-US" smtClean="0"/>
              <a:t>7/12/25</a:t>
            </a:fld>
            <a:endParaRPr lang="en-US"/>
          </a:p>
        </p:txBody>
      </p:sp>
      <p:sp>
        <p:nvSpPr>
          <p:cNvPr id="6" name="Footer Placeholder 5">
            <a:extLst>
              <a:ext uri="{FF2B5EF4-FFF2-40B4-BE49-F238E27FC236}">
                <a16:creationId xmlns:a16="http://schemas.microsoft.com/office/drawing/2014/main" id="{4E02F57A-FDE7-247E-6A6A-4830F8A441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ACAA76-4A0D-73D6-2B71-36996B492A8E}"/>
              </a:ext>
            </a:extLst>
          </p:cNvPr>
          <p:cNvSpPr>
            <a:spLocks noGrp="1"/>
          </p:cNvSpPr>
          <p:nvPr>
            <p:ph type="sldNum" sz="quarter" idx="12"/>
          </p:nvPr>
        </p:nvSpPr>
        <p:spPr/>
        <p:txBody>
          <a:bodyPr/>
          <a:lstStyle/>
          <a:p>
            <a:fld id="{BBD6AD26-B719-EF43-8058-5A33E93B09DE}" type="slidenum">
              <a:rPr lang="en-US" smtClean="0"/>
              <a:t>‹#›</a:t>
            </a:fld>
            <a:endParaRPr lang="en-US"/>
          </a:p>
        </p:txBody>
      </p:sp>
    </p:spTree>
    <p:extLst>
      <p:ext uri="{BB962C8B-B14F-4D97-AF65-F5344CB8AC3E}">
        <p14:creationId xmlns:p14="http://schemas.microsoft.com/office/powerpoint/2010/main" val="3087634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CF5D6-D94C-E569-1024-55CBF6C293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5ED965-38DF-61FF-DFCC-0CBBA4C632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711448-A0DF-6AE5-9BAA-F73759789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A06A38-558F-466B-91B4-E4BF9C14224A}"/>
              </a:ext>
            </a:extLst>
          </p:cNvPr>
          <p:cNvSpPr>
            <a:spLocks noGrp="1"/>
          </p:cNvSpPr>
          <p:nvPr>
            <p:ph type="dt" sz="half" idx="10"/>
          </p:nvPr>
        </p:nvSpPr>
        <p:spPr/>
        <p:txBody>
          <a:bodyPr/>
          <a:lstStyle/>
          <a:p>
            <a:fld id="{B95F8593-4080-CD46-9971-0A899B59E1DB}" type="datetimeFigureOut">
              <a:rPr lang="en-US" smtClean="0"/>
              <a:t>7/12/25</a:t>
            </a:fld>
            <a:endParaRPr lang="en-US"/>
          </a:p>
        </p:txBody>
      </p:sp>
      <p:sp>
        <p:nvSpPr>
          <p:cNvPr id="6" name="Footer Placeholder 5">
            <a:extLst>
              <a:ext uri="{FF2B5EF4-FFF2-40B4-BE49-F238E27FC236}">
                <a16:creationId xmlns:a16="http://schemas.microsoft.com/office/drawing/2014/main" id="{F5D6DE7D-6EE5-3E9F-B5C0-4958620A60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B71ED3-4FFC-9E27-1C50-F29FA3AAD4FE}"/>
              </a:ext>
            </a:extLst>
          </p:cNvPr>
          <p:cNvSpPr>
            <a:spLocks noGrp="1"/>
          </p:cNvSpPr>
          <p:nvPr>
            <p:ph type="sldNum" sz="quarter" idx="12"/>
          </p:nvPr>
        </p:nvSpPr>
        <p:spPr/>
        <p:txBody>
          <a:bodyPr/>
          <a:lstStyle/>
          <a:p>
            <a:fld id="{BBD6AD26-B719-EF43-8058-5A33E93B09DE}" type="slidenum">
              <a:rPr lang="en-US" smtClean="0"/>
              <a:t>‹#›</a:t>
            </a:fld>
            <a:endParaRPr lang="en-US"/>
          </a:p>
        </p:txBody>
      </p:sp>
    </p:spTree>
    <p:extLst>
      <p:ext uri="{BB962C8B-B14F-4D97-AF65-F5344CB8AC3E}">
        <p14:creationId xmlns:p14="http://schemas.microsoft.com/office/powerpoint/2010/main" val="687036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694E8-F950-FA36-DCAC-0BE066730E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37694A-AD97-2F17-80AF-ADA2C17855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F94456-0550-519B-AF34-B6F2F13D6C30}"/>
              </a:ext>
            </a:extLst>
          </p:cNvPr>
          <p:cNvSpPr>
            <a:spLocks noGrp="1"/>
          </p:cNvSpPr>
          <p:nvPr>
            <p:ph type="dt" sz="half" idx="10"/>
          </p:nvPr>
        </p:nvSpPr>
        <p:spPr/>
        <p:txBody>
          <a:bodyPr/>
          <a:lstStyle/>
          <a:p>
            <a:fld id="{B95F8593-4080-CD46-9971-0A899B59E1DB}" type="datetimeFigureOut">
              <a:rPr lang="en-US" smtClean="0"/>
              <a:t>7/12/25</a:t>
            </a:fld>
            <a:endParaRPr lang="en-US"/>
          </a:p>
        </p:txBody>
      </p:sp>
      <p:sp>
        <p:nvSpPr>
          <p:cNvPr id="5" name="Footer Placeholder 4">
            <a:extLst>
              <a:ext uri="{FF2B5EF4-FFF2-40B4-BE49-F238E27FC236}">
                <a16:creationId xmlns:a16="http://schemas.microsoft.com/office/drawing/2014/main" id="{962DEEB2-36F8-2526-4CEB-90D0399ED8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54BE10-E8B5-A284-33BA-ED9005C499FC}"/>
              </a:ext>
            </a:extLst>
          </p:cNvPr>
          <p:cNvSpPr>
            <a:spLocks noGrp="1"/>
          </p:cNvSpPr>
          <p:nvPr>
            <p:ph type="sldNum" sz="quarter" idx="12"/>
          </p:nvPr>
        </p:nvSpPr>
        <p:spPr/>
        <p:txBody>
          <a:bodyPr/>
          <a:lstStyle/>
          <a:p>
            <a:fld id="{BBD6AD26-B719-EF43-8058-5A33E93B09DE}" type="slidenum">
              <a:rPr lang="en-US" smtClean="0"/>
              <a:t>‹#›</a:t>
            </a:fld>
            <a:endParaRPr lang="en-US"/>
          </a:p>
        </p:txBody>
      </p:sp>
    </p:spTree>
    <p:extLst>
      <p:ext uri="{BB962C8B-B14F-4D97-AF65-F5344CB8AC3E}">
        <p14:creationId xmlns:p14="http://schemas.microsoft.com/office/powerpoint/2010/main" val="2337224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D4BE71-C5B3-7F5B-7DF4-F8EB60D3C9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8B8A00-50F0-DA80-1F77-8096AC3D97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42F937-405B-6303-7662-E411B9721D2B}"/>
              </a:ext>
            </a:extLst>
          </p:cNvPr>
          <p:cNvSpPr>
            <a:spLocks noGrp="1"/>
          </p:cNvSpPr>
          <p:nvPr>
            <p:ph type="dt" sz="half" idx="10"/>
          </p:nvPr>
        </p:nvSpPr>
        <p:spPr/>
        <p:txBody>
          <a:bodyPr/>
          <a:lstStyle/>
          <a:p>
            <a:fld id="{B95F8593-4080-CD46-9971-0A899B59E1DB}" type="datetimeFigureOut">
              <a:rPr lang="en-US" smtClean="0"/>
              <a:t>7/12/25</a:t>
            </a:fld>
            <a:endParaRPr lang="en-US"/>
          </a:p>
        </p:txBody>
      </p:sp>
      <p:sp>
        <p:nvSpPr>
          <p:cNvPr id="5" name="Footer Placeholder 4">
            <a:extLst>
              <a:ext uri="{FF2B5EF4-FFF2-40B4-BE49-F238E27FC236}">
                <a16:creationId xmlns:a16="http://schemas.microsoft.com/office/drawing/2014/main" id="{FE9BAF7C-23DD-BB16-A467-E9B533DACD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FE1E05-8F1F-8BEE-B9E2-83716FCFC921}"/>
              </a:ext>
            </a:extLst>
          </p:cNvPr>
          <p:cNvSpPr>
            <a:spLocks noGrp="1"/>
          </p:cNvSpPr>
          <p:nvPr>
            <p:ph type="sldNum" sz="quarter" idx="12"/>
          </p:nvPr>
        </p:nvSpPr>
        <p:spPr/>
        <p:txBody>
          <a:bodyPr/>
          <a:lstStyle/>
          <a:p>
            <a:fld id="{BBD6AD26-B719-EF43-8058-5A33E93B09DE}" type="slidenum">
              <a:rPr lang="en-US" smtClean="0"/>
              <a:t>‹#›</a:t>
            </a:fld>
            <a:endParaRPr lang="en-US"/>
          </a:p>
        </p:txBody>
      </p:sp>
    </p:spTree>
    <p:extLst>
      <p:ext uri="{BB962C8B-B14F-4D97-AF65-F5344CB8AC3E}">
        <p14:creationId xmlns:p14="http://schemas.microsoft.com/office/powerpoint/2010/main" val="177162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45C95F-3AC4-5781-7CA2-77F5C8C380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327A5D-D0C0-1451-4D5C-AFB02E6066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C9ACB8-02E4-3FEF-F96C-FD2DBB2A71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5F8593-4080-CD46-9971-0A899B59E1DB}" type="datetimeFigureOut">
              <a:rPr lang="en-US" smtClean="0"/>
              <a:t>7/12/25</a:t>
            </a:fld>
            <a:endParaRPr lang="en-US"/>
          </a:p>
        </p:txBody>
      </p:sp>
      <p:sp>
        <p:nvSpPr>
          <p:cNvPr id="5" name="Footer Placeholder 4">
            <a:extLst>
              <a:ext uri="{FF2B5EF4-FFF2-40B4-BE49-F238E27FC236}">
                <a16:creationId xmlns:a16="http://schemas.microsoft.com/office/drawing/2014/main" id="{702C1EBC-6C46-3179-D9C2-72D72160A4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AF4D67C-0EBC-3872-F1F7-1C26A5823E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D6AD26-B719-EF43-8058-5A33E93B09DE}" type="slidenum">
              <a:rPr lang="en-US" smtClean="0"/>
              <a:t>‹#›</a:t>
            </a:fld>
            <a:endParaRPr lang="en-US"/>
          </a:p>
        </p:txBody>
      </p:sp>
    </p:spTree>
    <p:extLst>
      <p:ext uri="{BB962C8B-B14F-4D97-AF65-F5344CB8AC3E}">
        <p14:creationId xmlns:p14="http://schemas.microsoft.com/office/powerpoint/2010/main" val="2526589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40000"/>
                <a:lumOff val="60000"/>
              </a:schemeClr>
            </a:gs>
            <a:gs pos="37000">
              <a:schemeClr val="accent1">
                <a:lumMod val="95000"/>
                <a:lumOff val="5000"/>
              </a:schemeClr>
            </a:gs>
            <a:gs pos="100000">
              <a:schemeClr val="accent1">
                <a:lumMod val="60000"/>
              </a:schemeClr>
            </a:gs>
          </a:gsLst>
          <a:path path="circle">
            <a:fillToRect l="50000" t="130000" r="50000" b="-30000"/>
          </a:path>
        </a:gra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45BF22-D499-460F-4B15-14A018BF8431}"/>
              </a:ext>
            </a:extLst>
          </p:cNvPr>
          <p:cNvSpPr>
            <a:spLocks noGrp="1"/>
          </p:cNvSpPr>
          <p:nvPr>
            <p:ph type="ctrTitle"/>
          </p:nvPr>
        </p:nvSpPr>
        <p:spPr>
          <a:xfrm>
            <a:off x="633046" y="1122363"/>
            <a:ext cx="11071274" cy="2387600"/>
          </a:xfrm>
        </p:spPr>
        <p:txBody>
          <a:bodyPr>
            <a:noAutofit/>
          </a:bodyPr>
          <a:lstStyle/>
          <a:p>
            <a:r>
              <a:rPr lang="en-US" sz="4400" b="1" dirty="0">
                <a:solidFill>
                  <a:schemeClr val="bg1"/>
                </a:solidFill>
              </a:rPr>
              <a:t>Artificial Intelligence-Based System for Boosting Automated Code Generation from Natural Language Descriptions</a:t>
            </a:r>
            <a:r>
              <a:rPr lang="en-US" sz="4400" b="1" dirty="0">
                <a:solidFill>
                  <a:schemeClr val="bg1"/>
                </a:solidFill>
                <a:effectLst/>
              </a:rPr>
              <a:t> </a:t>
            </a:r>
            <a:endParaRPr lang="en-US" sz="4400" b="1" dirty="0">
              <a:solidFill>
                <a:schemeClr val="bg1"/>
              </a:solidFill>
            </a:endParaRPr>
          </a:p>
        </p:txBody>
      </p:sp>
      <p:sp>
        <p:nvSpPr>
          <p:cNvPr id="5" name="Subtitle 2">
            <a:extLst>
              <a:ext uri="{FF2B5EF4-FFF2-40B4-BE49-F238E27FC236}">
                <a16:creationId xmlns:a16="http://schemas.microsoft.com/office/drawing/2014/main" id="{54F038BC-BC2E-722C-5F99-39AD2ED52827}"/>
              </a:ext>
            </a:extLst>
          </p:cNvPr>
          <p:cNvSpPr>
            <a:spLocks noGrp="1"/>
          </p:cNvSpPr>
          <p:nvPr>
            <p:ph type="subTitle" idx="1"/>
          </p:nvPr>
        </p:nvSpPr>
        <p:spPr>
          <a:xfrm>
            <a:off x="1524000" y="3869324"/>
            <a:ext cx="9144000" cy="1655762"/>
          </a:xfrm>
        </p:spPr>
        <p:txBody>
          <a:bodyPr>
            <a:normAutofit fontScale="92500" lnSpcReduction="10000"/>
          </a:bodyPr>
          <a:lstStyle/>
          <a:p>
            <a:r>
              <a:rPr lang="en-US" dirty="0">
                <a:solidFill>
                  <a:schemeClr val="bg1"/>
                </a:solidFill>
              </a:rPr>
              <a:t>By Andrew Nedilko (2025)</a:t>
            </a:r>
          </a:p>
          <a:p>
            <a:endParaRPr lang="en-US" dirty="0">
              <a:solidFill>
                <a:schemeClr val="bg1"/>
              </a:solidFill>
            </a:endParaRPr>
          </a:p>
          <a:p>
            <a:r>
              <a:rPr lang="en-US" dirty="0">
                <a:solidFill>
                  <a:schemeClr val="bg1"/>
                </a:solidFill>
              </a:rPr>
              <a:t>Praxis directed by</a:t>
            </a:r>
          </a:p>
          <a:p>
            <a:r>
              <a:rPr lang="en-US" dirty="0">
                <a:solidFill>
                  <a:schemeClr val="bg1"/>
                </a:solidFill>
              </a:rPr>
              <a:t>Dr. Kevin Abreu-Castellanos, D.Eng.</a:t>
            </a:r>
          </a:p>
          <a:p>
            <a:endParaRPr lang="en-US" dirty="0">
              <a:solidFill>
                <a:schemeClr val="bg1"/>
              </a:solidFill>
            </a:endParaRPr>
          </a:p>
        </p:txBody>
      </p:sp>
    </p:spTree>
    <p:extLst>
      <p:ext uri="{BB962C8B-B14F-4D97-AF65-F5344CB8AC3E}">
        <p14:creationId xmlns:p14="http://schemas.microsoft.com/office/powerpoint/2010/main" val="840126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03340-3DF4-3A56-FE8A-AB7FA4247A14}"/>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lstStyle/>
          <a:p>
            <a:r>
              <a:rPr lang="en-US" b="1" dirty="0">
                <a:solidFill>
                  <a:srgbClr val="FFFFFF"/>
                </a:solidFill>
              </a:rPr>
              <a:t>    Research Motivation</a:t>
            </a:r>
            <a:endParaRPr lang="en-US" dirty="0"/>
          </a:p>
        </p:txBody>
      </p:sp>
      <p:sp>
        <p:nvSpPr>
          <p:cNvPr id="4" name="Content Placeholder 2">
            <a:extLst>
              <a:ext uri="{FF2B5EF4-FFF2-40B4-BE49-F238E27FC236}">
                <a16:creationId xmlns:a16="http://schemas.microsoft.com/office/drawing/2014/main" id="{40588039-AE8B-7E86-2926-B65085BF0DD8}"/>
              </a:ext>
            </a:extLst>
          </p:cNvPr>
          <p:cNvSpPr>
            <a:spLocks noGrp="1"/>
          </p:cNvSpPr>
          <p:nvPr>
            <p:ph idx="1"/>
          </p:nvPr>
        </p:nvSpPr>
        <p:spPr>
          <a:xfrm>
            <a:off x="499872" y="1761455"/>
            <a:ext cx="11192256" cy="3786291"/>
          </a:xfrm>
        </p:spPr>
        <p:txBody>
          <a:bodyPr anchor="t" anchorCtr="0">
            <a:noAutofit/>
          </a:bodyPr>
          <a:lstStyle/>
          <a:p>
            <a:r>
              <a:rPr lang="en-US" sz="1600" b="1" dirty="0"/>
              <a:t>High labor costs</a:t>
            </a:r>
            <a:r>
              <a:rPr lang="en-US" sz="1600" dirty="0"/>
              <a:t> in software development drive the push for automated code generation.</a:t>
            </a:r>
          </a:p>
          <a:p>
            <a:r>
              <a:rPr lang="en-US" sz="1600" b="1" dirty="0"/>
              <a:t>LLM-powered tools</a:t>
            </a:r>
            <a:r>
              <a:rPr lang="en-US" sz="1600" dirty="0"/>
              <a:t> can cut coding time by up to 45–55%.</a:t>
            </a:r>
          </a:p>
          <a:p>
            <a:r>
              <a:rPr lang="en-US" sz="1600" b="1" dirty="0"/>
              <a:t>Widespread adoption of automatic code generation</a:t>
            </a:r>
            <a:r>
              <a:rPr lang="en-US" sz="1600" dirty="0"/>
              <a:t>: over 62% of developers actively use AI coding tools, and Google reports &gt;25% of its new code is AI-generated.</a:t>
            </a:r>
          </a:p>
          <a:p>
            <a:pPr marL="0" indent="0">
              <a:buNone/>
            </a:pPr>
            <a:r>
              <a:rPr lang="en-US" sz="1600" u="sng" dirty="0"/>
              <a:t>On the other hand</a:t>
            </a:r>
          </a:p>
          <a:p>
            <a:r>
              <a:rPr lang="en-US" sz="1600" b="1" dirty="0"/>
              <a:t>Data privacy and security risks</a:t>
            </a:r>
            <a:r>
              <a:rPr lang="en-US" sz="1600" dirty="0"/>
              <a:t> of proprietary LLMs (sending confidential code to third-party servers) motivate in-house alternatives.</a:t>
            </a:r>
          </a:p>
          <a:p>
            <a:r>
              <a:rPr lang="en-US" sz="1600" b="1" dirty="0"/>
              <a:t>Deploying small language models (SLMs) in secure in-house environments</a:t>
            </a:r>
            <a:r>
              <a:rPr lang="en-US" sz="1600" dirty="0"/>
              <a:t> offers a cost-effective, privacy-preserving way to automate routine coding tasks and boost productivity.</a:t>
            </a:r>
          </a:p>
          <a:p>
            <a:r>
              <a:rPr lang="en-US" sz="1600" b="1" dirty="0"/>
              <a:t>Agent-enhanced SLMs</a:t>
            </a:r>
            <a:r>
              <a:rPr lang="en-US" sz="1600" dirty="0"/>
              <a:t> will enforce coding best practices, cut human errors, speed development cycles, and enable understaffed teams to automate routine tasks without extra hires.</a:t>
            </a:r>
          </a:p>
        </p:txBody>
      </p:sp>
    </p:spTree>
    <p:extLst>
      <p:ext uri="{BB962C8B-B14F-4D97-AF65-F5344CB8AC3E}">
        <p14:creationId xmlns:p14="http://schemas.microsoft.com/office/powerpoint/2010/main" val="3516874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E1445-5A81-6471-EB9F-9E3DA65DF5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92B51-1A00-D6EC-7456-0E9293BEB671}"/>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lstStyle/>
          <a:p>
            <a:r>
              <a:rPr lang="en-US" b="1" dirty="0">
                <a:solidFill>
                  <a:srgbClr val="FFFFFF"/>
                </a:solidFill>
              </a:rPr>
              <a:t>    Initial Assumptions</a:t>
            </a:r>
            <a:endParaRPr lang="en-US" dirty="0"/>
          </a:p>
        </p:txBody>
      </p:sp>
      <p:sp>
        <p:nvSpPr>
          <p:cNvPr id="6" name="Content Placeholder 2">
            <a:extLst>
              <a:ext uri="{FF2B5EF4-FFF2-40B4-BE49-F238E27FC236}">
                <a16:creationId xmlns:a16="http://schemas.microsoft.com/office/drawing/2014/main" id="{B9F10DD7-792B-CAF9-673B-4FD57A9439EF}"/>
              </a:ext>
            </a:extLst>
          </p:cNvPr>
          <p:cNvSpPr>
            <a:spLocks noGrp="1"/>
          </p:cNvSpPr>
          <p:nvPr>
            <p:ph idx="1"/>
          </p:nvPr>
        </p:nvSpPr>
        <p:spPr>
          <a:xfrm>
            <a:off x="429617" y="1769557"/>
            <a:ext cx="10951146" cy="3683358"/>
          </a:xfrm>
        </p:spPr>
        <p:txBody>
          <a:bodyPr anchor="t" anchorCtr="0">
            <a:normAutofit/>
          </a:bodyPr>
          <a:lstStyle/>
          <a:p>
            <a:pPr algn="just"/>
            <a:r>
              <a:rPr lang="en-US" sz="2000" b="1" dirty="0"/>
              <a:t>Problem Statement: </a:t>
            </a:r>
            <a:r>
              <a:rPr lang="en-US" sz="2000" i="1" dirty="0"/>
              <a:t>Using proprietary large language models (LLMs) to automatically generate code is costly and not safe from the sensitive data protection and intellectual property standpoints forcing developers to spend twice as much time writing code manually</a:t>
            </a:r>
            <a:r>
              <a:rPr lang="en-US" sz="2000" dirty="0">
                <a:effectLst/>
              </a:rPr>
              <a:t> </a:t>
            </a:r>
          </a:p>
          <a:p>
            <a:pPr algn="just"/>
            <a:r>
              <a:rPr lang="en-US" sz="2000" b="1" dirty="0"/>
              <a:t>Thesis Statement: </a:t>
            </a:r>
            <a:r>
              <a:rPr lang="en-US" sz="2000" i="1" dirty="0"/>
              <a:t>Agents based on open-source small language models (SLM) deployed in resource-constrained environments for automated code generation will ensure lower costs and sensitive data protection, reducing the manual coding time and speeding up development cycle</a:t>
            </a:r>
            <a:r>
              <a:rPr lang="en-US" sz="2000" dirty="0">
                <a:effectLst/>
              </a:rPr>
              <a:t> </a:t>
            </a:r>
          </a:p>
          <a:p>
            <a:r>
              <a:rPr lang="en-US" sz="2000" b="1" dirty="0"/>
              <a:t>Research Objectives: </a:t>
            </a:r>
            <a:r>
              <a:rPr lang="en-US" sz="2000" dirty="0"/>
              <a:t>The main objective of this research is to develop and evaluate an agent-based system utilizing SLMs to automatically generate code from natural language descriptions. The study aims to bridge the performance gap between SLMs and proprietary LLMs in code generation tasks while ensuring data privacy and cost efficiency</a:t>
            </a:r>
            <a:r>
              <a:rPr lang="en-US" sz="2000" dirty="0">
                <a:effectLst/>
              </a:rPr>
              <a:t> </a:t>
            </a:r>
            <a:endParaRPr lang="en-US" sz="2000" dirty="0"/>
          </a:p>
        </p:txBody>
      </p:sp>
    </p:spTree>
    <p:extLst>
      <p:ext uri="{BB962C8B-B14F-4D97-AF65-F5344CB8AC3E}">
        <p14:creationId xmlns:p14="http://schemas.microsoft.com/office/powerpoint/2010/main" val="2861855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D609-21C4-88DC-981E-7F05EF3507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EA028A-7F2A-989F-BE10-D6BDEF739A61}"/>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Research Questions and Hypotheses</a:t>
            </a:r>
            <a:endParaRPr lang="en-US" dirty="0"/>
          </a:p>
        </p:txBody>
      </p:sp>
      <p:sp>
        <p:nvSpPr>
          <p:cNvPr id="5" name="Content Placeholder 2">
            <a:extLst>
              <a:ext uri="{FF2B5EF4-FFF2-40B4-BE49-F238E27FC236}">
                <a16:creationId xmlns:a16="http://schemas.microsoft.com/office/drawing/2014/main" id="{8B053318-7E57-89F1-5B7D-4F2506F2B6B1}"/>
              </a:ext>
            </a:extLst>
          </p:cNvPr>
          <p:cNvSpPr>
            <a:spLocks noGrp="1"/>
          </p:cNvSpPr>
          <p:nvPr>
            <p:ph idx="1"/>
          </p:nvPr>
        </p:nvSpPr>
        <p:spPr>
          <a:xfrm>
            <a:off x="429617" y="1748353"/>
            <a:ext cx="10837933" cy="3683358"/>
          </a:xfrm>
        </p:spPr>
        <p:txBody>
          <a:bodyPr anchor="t" anchorCtr="0">
            <a:noAutofit/>
          </a:bodyPr>
          <a:lstStyle/>
          <a:p>
            <a:r>
              <a:rPr lang="en-US" sz="1600" b="1" dirty="0"/>
              <a:t>Research question 1:</a:t>
            </a:r>
            <a:r>
              <a:rPr lang="en-US" sz="1600" dirty="0"/>
              <a:t> Will the use of agentic workflows, such as reflection or multi‐agent collaboration, improve code‐generation quality, as measured by test‐case pass rates across multiple benchmarks?</a:t>
            </a:r>
          </a:p>
          <a:p>
            <a:r>
              <a:rPr lang="en-US" sz="1600" b="1" dirty="0"/>
              <a:t>Research question 2:</a:t>
            </a:r>
            <a:r>
              <a:rPr lang="en-US" sz="1600" dirty="0"/>
              <a:t> Will adjusting SLM inference parameters, such as temperature and top-p, ensure greater code-generation quality, as measured by test-case pass rates across multiple benchmarks?</a:t>
            </a:r>
          </a:p>
          <a:p>
            <a:r>
              <a:rPr lang="en-US" sz="1600" b="1" dirty="0"/>
              <a:t>Research question 3:</a:t>
            </a:r>
            <a:r>
              <a:rPr lang="en-US" sz="1600" dirty="0"/>
              <a:t> Will fine-tuning SLMs enhance code-generation quality, as measured by test-case pass rates across multiple benchmarks?</a:t>
            </a:r>
          </a:p>
          <a:p>
            <a:endParaRPr lang="en-US" sz="1600" dirty="0"/>
          </a:p>
          <a:p>
            <a:r>
              <a:rPr lang="en-US" sz="1600" b="1" dirty="0"/>
              <a:t>Hypothesis 1</a:t>
            </a:r>
            <a:r>
              <a:rPr lang="en-US" sz="1600" dirty="0"/>
              <a:t>: Agentic workflows will result in higher test-case pass rates than single-pass SLM inference, as measured across multiple benchmarks.</a:t>
            </a:r>
          </a:p>
          <a:p>
            <a:r>
              <a:rPr lang="en-US" sz="1600" b="1" dirty="0"/>
              <a:t>Hypothesis 2</a:t>
            </a:r>
            <a:r>
              <a:rPr lang="en-US" sz="1600" dirty="0"/>
              <a:t>: Adjusting SLM parameters, such as temperature and top-p, will improve code generation quality, as measured by test-case pass rates across multiple benchmarks.</a:t>
            </a:r>
          </a:p>
          <a:p>
            <a:r>
              <a:rPr lang="en-US" sz="1600" b="1" dirty="0"/>
              <a:t>Hypothesis 3:</a:t>
            </a:r>
            <a:r>
              <a:rPr lang="en-US" sz="1600" dirty="0"/>
              <a:t> Fine-tuning SLMs on domain-specific data will increase test-case pass rates across multiple benchmarks compared to using SLMs without fine-tuning.</a:t>
            </a:r>
          </a:p>
          <a:p>
            <a:endParaRPr lang="en-US" sz="1600" dirty="0"/>
          </a:p>
          <a:p>
            <a:endParaRPr lang="en-US" sz="1600" dirty="0"/>
          </a:p>
        </p:txBody>
      </p:sp>
    </p:spTree>
    <p:extLst>
      <p:ext uri="{BB962C8B-B14F-4D97-AF65-F5344CB8AC3E}">
        <p14:creationId xmlns:p14="http://schemas.microsoft.com/office/powerpoint/2010/main" val="1173906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05C11-FF01-B5DD-9B4C-83C705B5A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C1BB17-269D-D644-5D24-33281B1BD805}"/>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a:t>
            </a:r>
            <a:r>
              <a:rPr lang="en-US" b="1" dirty="0">
                <a:solidFill>
                  <a:schemeClr val="bg1"/>
                </a:solidFill>
              </a:rPr>
              <a:t>Literature: Important Sources</a:t>
            </a:r>
            <a:endParaRPr lang="en-US" dirty="0"/>
          </a:p>
        </p:txBody>
      </p:sp>
      <p:sp>
        <p:nvSpPr>
          <p:cNvPr id="5" name="Content Placeholder 2">
            <a:extLst>
              <a:ext uri="{FF2B5EF4-FFF2-40B4-BE49-F238E27FC236}">
                <a16:creationId xmlns:a16="http://schemas.microsoft.com/office/drawing/2014/main" id="{D303F761-5FB4-D62B-7FF3-8843329CB6A3}"/>
              </a:ext>
            </a:extLst>
          </p:cNvPr>
          <p:cNvSpPr txBox="1">
            <a:spLocks/>
          </p:cNvSpPr>
          <p:nvPr/>
        </p:nvSpPr>
        <p:spPr>
          <a:xfrm>
            <a:off x="397533" y="1370998"/>
            <a:ext cx="11098768" cy="529449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err="1"/>
              <a:t>Ciniselli</a:t>
            </a:r>
            <a:r>
              <a:rPr lang="en-US" sz="1600" b="1" dirty="0"/>
              <a:t> et al. (2024) </a:t>
            </a:r>
            <a:br>
              <a:rPr lang="en-US" sz="1600" b="1" dirty="0"/>
            </a:br>
            <a:r>
              <a:rPr lang="en-US" sz="1600" dirty="0"/>
              <a:t>“</a:t>
            </a:r>
            <a:r>
              <a:rPr lang="en-US" sz="1600" i="1" dirty="0"/>
              <a:t>From Today’s Code to Tomorrow’s Symphony: The AI Transformation of Developer’s Routine by 2030</a:t>
            </a:r>
            <a:r>
              <a:rPr lang="en-US" sz="1600" dirty="0"/>
              <a:t>”</a:t>
            </a:r>
            <a:br>
              <a:rPr lang="en-US" sz="1600" dirty="0"/>
            </a:br>
            <a:r>
              <a:rPr lang="en-US" sz="1600" dirty="0"/>
              <a:t>Transition from human-led coding toward orchestrating AI-driven ecosystems leading to more efficient, secure, and sustainable software engineering.</a:t>
            </a:r>
          </a:p>
          <a:p>
            <a:r>
              <a:rPr lang="en-US" sz="1600" b="1" dirty="0"/>
              <a:t>Chen &amp; Varoquaux (2024)</a:t>
            </a:r>
            <a:br>
              <a:rPr lang="en-US" sz="1600" dirty="0"/>
            </a:br>
            <a:r>
              <a:rPr lang="en-US" sz="1600" i="1" dirty="0"/>
              <a:t>“Small vs. Large Models for Code Generation”</a:t>
            </a:r>
            <a:br>
              <a:rPr lang="en-US" sz="1600" dirty="0"/>
            </a:br>
            <a:r>
              <a:rPr lang="en-US" sz="1600" dirty="0"/>
              <a:t>Establishes the core argument that SLMs—when paired with prompt optimization and domain-specific tuning—can match LLM performance on code tasks, laying the foundation for all follow-on SLM work.</a:t>
            </a:r>
          </a:p>
          <a:p>
            <a:r>
              <a:rPr lang="en-US" sz="1600" b="1" dirty="0"/>
              <a:t>Williams, 2024</a:t>
            </a:r>
            <a:br>
              <a:rPr lang="en-US" sz="1600" dirty="0"/>
            </a:br>
            <a:r>
              <a:rPr lang="en-US" sz="1600" dirty="0"/>
              <a:t>“</a:t>
            </a:r>
            <a:r>
              <a:rPr lang="en-US" sz="1600" i="1" dirty="0"/>
              <a:t>Coding With SLMs and Local LLMs: Tips and Recommendations</a:t>
            </a:r>
            <a:r>
              <a:rPr lang="en-US" sz="1600" dirty="0"/>
              <a:t>”</a:t>
            </a:r>
            <a:br>
              <a:rPr lang="en-US" sz="1600" dirty="0"/>
            </a:br>
            <a:r>
              <a:rPr lang="en-US" sz="1600" dirty="0"/>
              <a:t>Explores the growing popularity of locally hosted SLMs for coding tasks with such advantages as cost savings, customization, optimized speed, lower hardware requirements, etc.</a:t>
            </a:r>
          </a:p>
          <a:p>
            <a:r>
              <a:rPr lang="en-US" sz="1600" b="1" dirty="0"/>
              <a:t>Hong et al. (2023)</a:t>
            </a:r>
            <a:br>
              <a:rPr lang="en-US" sz="1600" dirty="0"/>
            </a:br>
            <a:r>
              <a:rPr lang="en-US" sz="1600" i="1" dirty="0"/>
              <a:t>“</a:t>
            </a:r>
            <a:r>
              <a:rPr lang="en-US" sz="1600" i="1" dirty="0" err="1"/>
              <a:t>MetaGPT</a:t>
            </a:r>
            <a:r>
              <a:rPr lang="en-US" sz="1600" i="1" dirty="0"/>
              <a:t>: SOP-Driven Multi-Agent Code Generation”</a:t>
            </a:r>
            <a:br>
              <a:rPr lang="en-US" sz="1600" dirty="0"/>
            </a:br>
            <a:r>
              <a:rPr lang="en-US" sz="1600" dirty="0"/>
              <a:t>Demonstrates a modular, role-based multi-agent framework—product managers, architects, engineers, testers—each handling a slice of the code workflow, and shows clear gains in coherence and reliability over monolithic prompts.</a:t>
            </a:r>
          </a:p>
          <a:p>
            <a:r>
              <a:rPr lang="en-US" sz="1600" b="1" dirty="0"/>
              <a:t>Zhang et al. (2024)</a:t>
            </a:r>
            <a:r>
              <a:rPr lang="en-US" sz="1600" dirty="0"/>
              <a:t> </a:t>
            </a:r>
            <a:br>
              <a:rPr lang="en-US" sz="1600" dirty="0"/>
            </a:br>
            <a:r>
              <a:rPr lang="en-US" sz="1600" dirty="0"/>
              <a:t>“CODEAGENT: Enhancing Code Generation with Tool-Integrated Agent Systems for Real-World Repo-level Coding Challenges”</a:t>
            </a:r>
            <a:br>
              <a:rPr lang="en-US" sz="1600" dirty="0"/>
            </a:br>
            <a:r>
              <a:rPr lang="en-US" sz="1600" dirty="0"/>
              <a:t>Introduces a framework designed to tackle code generation tasks at the level of entire software repositories, going beyond the simpler function- or statement-level generation.</a:t>
            </a:r>
          </a:p>
        </p:txBody>
      </p:sp>
    </p:spTree>
    <p:extLst>
      <p:ext uri="{BB962C8B-B14F-4D97-AF65-F5344CB8AC3E}">
        <p14:creationId xmlns:p14="http://schemas.microsoft.com/office/powerpoint/2010/main" val="3135394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B3BD4-F4B2-C353-1761-C78514E018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E5C75-9364-E75E-D521-8E59FA0D47A7}"/>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a:t>
            </a:r>
            <a:r>
              <a:rPr lang="en-US" b="1" dirty="0">
                <a:solidFill>
                  <a:schemeClr val="bg1"/>
                </a:solidFill>
              </a:rPr>
              <a:t>Literature: Important Sources (2)</a:t>
            </a:r>
            <a:endParaRPr lang="en-US" dirty="0"/>
          </a:p>
        </p:txBody>
      </p:sp>
      <p:sp>
        <p:nvSpPr>
          <p:cNvPr id="5" name="Content Placeholder 2">
            <a:extLst>
              <a:ext uri="{FF2B5EF4-FFF2-40B4-BE49-F238E27FC236}">
                <a16:creationId xmlns:a16="http://schemas.microsoft.com/office/drawing/2014/main" id="{AE99DBAD-AE3B-C90A-8CC7-EA5EFE2C1D11}"/>
              </a:ext>
            </a:extLst>
          </p:cNvPr>
          <p:cNvSpPr txBox="1">
            <a:spLocks/>
          </p:cNvSpPr>
          <p:nvPr/>
        </p:nvSpPr>
        <p:spPr>
          <a:xfrm>
            <a:off x="7154778" y="3403285"/>
            <a:ext cx="4341521" cy="160185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800" dirty="0"/>
              <a:t>A group of researcher from NVIDIA Research and Georgia Institute of Technology argue that SLMs are not only sufficiently capable but also more efficient and cost-effective for repetitive, specialized tasks</a:t>
            </a:r>
          </a:p>
        </p:txBody>
      </p:sp>
      <p:pic>
        <p:nvPicPr>
          <p:cNvPr id="3" name="Picture 2">
            <a:extLst>
              <a:ext uri="{FF2B5EF4-FFF2-40B4-BE49-F238E27FC236}">
                <a16:creationId xmlns:a16="http://schemas.microsoft.com/office/drawing/2014/main" id="{08920113-8DAD-687D-0536-D379055B015D}"/>
              </a:ext>
            </a:extLst>
          </p:cNvPr>
          <p:cNvPicPr>
            <a:picLocks noChangeAspect="1"/>
          </p:cNvPicPr>
          <p:nvPr/>
        </p:nvPicPr>
        <p:blipFill>
          <a:blip r:embed="rId3"/>
          <a:stretch>
            <a:fillRect/>
          </a:stretch>
        </p:blipFill>
        <p:spPr>
          <a:xfrm>
            <a:off x="449177" y="1366987"/>
            <a:ext cx="6436895" cy="5380630"/>
          </a:xfrm>
          <a:prstGeom prst="rect">
            <a:avLst/>
          </a:prstGeom>
        </p:spPr>
      </p:pic>
    </p:spTree>
    <p:extLst>
      <p:ext uri="{BB962C8B-B14F-4D97-AF65-F5344CB8AC3E}">
        <p14:creationId xmlns:p14="http://schemas.microsoft.com/office/powerpoint/2010/main" val="3804094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D6686-E9E8-303E-89F3-D16CA53D4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1C016B-58BF-2041-E02F-C9BD37AF729C}"/>
              </a:ext>
            </a:extLst>
          </p:cNvPr>
          <p:cNvSpPr>
            <a:spLocks noGrp="1"/>
          </p:cNvSpPr>
          <p:nvPr>
            <p:ph type="title"/>
          </p:nvPr>
        </p:nvSpPr>
        <p:spPr>
          <a:xfrm>
            <a:off x="0" y="2161309"/>
            <a:ext cx="12192000" cy="2632364"/>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pPr algn="ctr"/>
            <a:r>
              <a:rPr lang="en-US" b="1" dirty="0">
                <a:solidFill>
                  <a:srgbClr val="FFFFFF"/>
                </a:solidFill>
              </a:rPr>
              <a:t>Methodology</a:t>
            </a:r>
            <a:endParaRPr lang="en-US" dirty="0"/>
          </a:p>
        </p:txBody>
      </p:sp>
    </p:spTree>
    <p:extLst>
      <p:ext uri="{BB962C8B-B14F-4D97-AF65-F5344CB8AC3E}">
        <p14:creationId xmlns:p14="http://schemas.microsoft.com/office/powerpoint/2010/main" val="3811142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D07EF-B367-BADD-CEA0-75D060330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CC099-0553-5037-007D-210858F922DF}"/>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Overview and Environments</a:t>
            </a:r>
            <a:endParaRPr lang="en-US" dirty="0"/>
          </a:p>
        </p:txBody>
      </p:sp>
      <p:sp>
        <p:nvSpPr>
          <p:cNvPr id="5" name="Content Placeholder 2">
            <a:extLst>
              <a:ext uri="{FF2B5EF4-FFF2-40B4-BE49-F238E27FC236}">
                <a16:creationId xmlns:a16="http://schemas.microsoft.com/office/drawing/2014/main" id="{E06E49B4-50E6-6994-BF4D-7D1527779B22}"/>
              </a:ext>
            </a:extLst>
          </p:cNvPr>
          <p:cNvSpPr txBox="1">
            <a:spLocks/>
          </p:cNvSpPr>
          <p:nvPr/>
        </p:nvSpPr>
        <p:spPr>
          <a:xfrm>
            <a:off x="4559253" y="1414308"/>
            <a:ext cx="7331806" cy="4792528"/>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Google </a:t>
            </a:r>
            <a:r>
              <a:rPr lang="en-US" sz="1600" b="1" dirty="0" err="1"/>
              <a:t>Colab</a:t>
            </a:r>
            <a:r>
              <a:rPr lang="en-US" sz="1600" b="1" dirty="0"/>
              <a:t> Pro+</a:t>
            </a:r>
          </a:p>
          <a:p>
            <a:r>
              <a:rPr lang="en-US" sz="1600" dirty="0"/>
              <a:t>A premium </a:t>
            </a:r>
            <a:r>
              <a:rPr lang="en-US" sz="1600" dirty="0" err="1"/>
              <a:t>Jupyter</a:t>
            </a:r>
            <a:r>
              <a:rPr lang="en-US" sz="1600" dirty="0"/>
              <a:t>‑notebook tier. Compared with free </a:t>
            </a:r>
            <a:r>
              <a:rPr lang="en-US" sz="1600" dirty="0" err="1"/>
              <a:t>Colab</a:t>
            </a:r>
            <a:r>
              <a:rPr lang="en-US" sz="1600" dirty="0"/>
              <a:t>, it has longer runtimes (up to 24 h even when the browser is closed), high‑memory VMs (52 GB RAM), and priority access to GPUs including A100—ideal for large‑scale SLM experiments in Hugging Face transformers without session interruptions.</a:t>
            </a:r>
          </a:p>
          <a:p>
            <a:endParaRPr lang="en-US" sz="800" dirty="0"/>
          </a:p>
          <a:p>
            <a:pPr marL="0" indent="0">
              <a:buNone/>
            </a:pPr>
            <a:r>
              <a:rPr lang="en-US" sz="1600" b="1" dirty="0"/>
              <a:t>Mistral AI</a:t>
            </a:r>
          </a:p>
          <a:p>
            <a:r>
              <a:rPr lang="en-US" sz="1600" dirty="0"/>
              <a:t>Next‑generation SLM platform w/permissively licensed 7B transformer models (8K–32 K token context) via a simple API. Faster code‑generation performance than Google </a:t>
            </a:r>
            <a:r>
              <a:rPr lang="en-US" sz="1600" dirty="0" err="1"/>
              <a:t>Colab</a:t>
            </a:r>
            <a:r>
              <a:rPr lang="en-US" sz="1600" dirty="0"/>
              <a:t> by offloading inference to </a:t>
            </a:r>
            <a:r>
              <a:rPr lang="en-US" sz="1600" b="1" dirty="0"/>
              <a:t>optimized hosted endpoints</a:t>
            </a:r>
            <a:r>
              <a:rPr lang="en-US" sz="1600" dirty="0"/>
              <a:t>.</a:t>
            </a:r>
          </a:p>
          <a:p>
            <a:endParaRPr lang="en-US" sz="800" dirty="0"/>
          </a:p>
          <a:p>
            <a:pPr marL="0" indent="0">
              <a:buNone/>
            </a:pPr>
            <a:r>
              <a:rPr lang="en-US" sz="1600" b="1" dirty="0"/>
              <a:t>Replicate</a:t>
            </a:r>
          </a:p>
          <a:p>
            <a:r>
              <a:rPr lang="en-US" sz="1600" b="1" dirty="0"/>
              <a:t>A cloud‑based model‑hosting and inference service </a:t>
            </a:r>
            <a:r>
              <a:rPr lang="en-US" sz="1600" dirty="0"/>
              <a:t>with on‑demand, auto‑scaling and pay‑as‑you‑go pricing. Hosts thousands of community models (e.g. Nous‑hermes‑2‑solar‑10.7b, Phixtral‑2x2_8, Qwen1.5‑7b), enabling easy and large-scale fine‑tuning and deployment.</a:t>
            </a:r>
          </a:p>
        </p:txBody>
      </p:sp>
      <p:pic>
        <p:nvPicPr>
          <p:cNvPr id="3" name="Picture 2" descr="A diagram of a process&#10;&#10;AI-generated content may be incorrect.">
            <a:extLst>
              <a:ext uri="{FF2B5EF4-FFF2-40B4-BE49-F238E27FC236}">
                <a16:creationId xmlns:a16="http://schemas.microsoft.com/office/drawing/2014/main" id="{0EF62AF8-350C-0C65-8C49-FB6459AAADA3}"/>
              </a:ext>
            </a:extLst>
          </p:cNvPr>
          <p:cNvPicPr>
            <a:picLocks noChangeAspect="1"/>
          </p:cNvPicPr>
          <p:nvPr/>
        </p:nvPicPr>
        <p:blipFill>
          <a:blip r:embed="rId3"/>
          <a:stretch>
            <a:fillRect/>
          </a:stretch>
        </p:blipFill>
        <p:spPr>
          <a:xfrm>
            <a:off x="300941" y="1180619"/>
            <a:ext cx="3578332" cy="5367062"/>
          </a:xfrm>
          <a:prstGeom prst="rect">
            <a:avLst/>
          </a:prstGeom>
        </p:spPr>
      </p:pic>
    </p:spTree>
    <p:extLst>
      <p:ext uri="{BB962C8B-B14F-4D97-AF65-F5344CB8AC3E}">
        <p14:creationId xmlns:p14="http://schemas.microsoft.com/office/powerpoint/2010/main" val="1629315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6680F5-541D-A4F3-D9A4-984966A3D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A6D44-A218-7EE3-8E7D-7AEC8D66A209}"/>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Models</a:t>
            </a:r>
            <a:endParaRPr lang="en-US" dirty="0"/>
          </a:p>
        </p:txBody>
      </p:sp>
      <p:pic>
        <p:nvPicPr>
          <p:cNvPr id="6" name="Picture 5">
            <a:extLst>
              <a:ext uri="{FF2B5EF4-FFF2-40B4-BE49-F238E27FC236}">
                <a16:creationId xmlns:a16="http://schemas.microsoft.com/office/drawing/2014/main" id="{5EB9B03A-9819-DD7C-5C15-21A444FE4876}"/>
              </a:ext>
            </a:extLst>
          </p:cNvPr>
          <p:cNvPicPr>
            <a:picLocks noChangeAspect="1"/>
          </p:cNvPicPr>
          <p:nvPr/>
        </p:nvPicPr>
        <p:blipFill>
          <a:blip r:embed="rId3"/>
          <a:stretch>
            <a:fillRect/>
          </a:stretch>
        </p:blipFill>
        <p:spPr>
          <a:xfrm>
            <a:off x="331106" y="1414308"/>
            <a:ext cx="4927600" cy="4178300"/>
          </a:xfrm>
          <a:prstGeom prst="rect">
            <a:avLst/>
          </a:prstGeom>
        </p:spPr>
      </p:pic>
      <p:sp>
        <p:nvSpPr>
          <p:cNvPr id="8" name="TextBox 7">
            <a:extLst>
              <a:ext uri="{FF2B5EF4-FFF2-40B4-BE49-F238E27FC236}">
                <a16:creationId xmlns:a16="http://schemas.microsoft.com/office/drawing/2014/main" id="{8372784A-3D43-8ACB-F5DF-0A1FA251E1DB}"/>
              </a:ext>
            </a:extLst>
          </p:cNvPr>
          <p:cNvSpPr txBox="1"/>
          <p:nvPr/>
        </p:nvSpPr>
        <p:spPr>
          <a:xfrm>
            <a:off x="1080654" y="5657020"/>
            <a:ext cx="3034146" cy="338554"/>
          </a:xfrm>
          <a:prstGeom prst="rect">
            <a:avLst/>
          </a:prstGeom>
          <a:noFill/>
        </p:spPr>
        <p:txBody>
          <a:bodyPr wrap="square">
            <a:spAutoFit/>
          </a:bodyPr>
          <a:lstStyle/>
          <a:p>
            <a:r>
              <a:rPr lang="en-US" sz="1600" b="1" dirty="0">
                <a:effectLst/>
                <a:latin typeface="+mj-lt"/>
                <a:ea typeface="Times New Roman" panose="02020603050405020304" pitchFamily="18" charset="0"/>
              </a:rPr>
              <a:t>SLMs Used in Initial Experiments</a:t>
            </a:r>
            <a:r>
              <a:rPr lang="en-US" sz="1600" b="1" dirty="0">
                <a:effectLst/>
                <a:latin typeface="+mj-lt"/>
              </a:rPr>
              <a:t> </a:t>
            </a:r>
            <a:endParaRPr lang="en-US" sz="1600" b="1" dirty="0">
              <a:latin typeface="+mj-lt"/>
            </a:endParaRPr>
          </a:p>
        </p:txBody>
      </p:sp>
      <p:pic>
        <p:nvPicPr>
          <p:cNvPr id="9" name="Picture 8">
            <a:extLst>
              <a:ext uri="{FF2B5EF4-FFF2-40B4-BE49-F238E27FC236}">
                <a16:creationId xmlns:a16="http://schemas.microsoft.com/office/drawing/2014/main" id="{4271F6D7-52C9-AB76-CC4E-D97A4495A606}"/>
              </a:ext>
            </a:extLst>
          </p:cNvPr>
          <p:cNvPicPr>
            <a:picLocks noChangeAspect="1"/>
          </p:cNvPicPr>
          <p:nvPr/>
        </p:nvPicPr>
        <p:blipFill>
          <a:blip r:embed="rId4"/>
          <a:stretch>
            <a:fillRect/>
          </a:stretch>
        </p:blipFill>
        <p:spPr>
          <a:xfrm>
            <a:off x="5793258" y="1339850"/>
            <a:ext cx="2466357" cy="4178300"/>
          </a:xfrm>
          <a:prstGeom prst="rect">
            <a:avLst/>
          </a:prstGeom>
        </p:spPr>
      </p:pic>
      <p:sp>
        <p:nvSpPr>
          <p:cNvPr id="10" name="TextBox 9">
            <a:extLst>
              <a:ext uri="{FF2B5EF4-FFF2-40B4-BE49-F238E27FC236}">
                <a16:creationId xmlns:a16="http://schemas.microsoft.com/office/drawing/2014/main" id="{A488DA11-1FFB-F69E-B2D0-76268ABD67A7}"/>
              </a:ext>
            </a:extLst>
          </p:cNvPr>
          <p:cNvSpPr txBox="1"/>
          <p:nvPr/>
        </p:nvSpPr>
        <p:spPr>
          <a:xfrm>
            <a:off x="5793258" y="5592608"/>
            <a:ext cx="2731076" cy="830997"/>
          </a:xfrm>
          <a:prstGeom prst="rect">
            <a:avLst/>
          </a:prstGeom>
          <a:noFill/>
        </p:spPr>
        <p:txBody>
          <a:bodyPr wrap="square">
            <a:spAutoFit/>
          </a:bodyPr>
          <a:lstStyle/>
          <a:p>
            <a:pPr algn="ctr"/>
            <a:r>
              <a:rPr lang="en-US" sz="1600" b="1" dirty="0">
                <a:effectLst/>
                <a:latin typeface="+mj-lt"/>
                <a:ea typeface="Times New Roman" panose="02020603050405020304" pitchFamily="18" charset="0"/>
              </a:rPr>
              <a:t>SLMs with more reasonable</a:t>
            </a:r>
          </a:p>
          <a:p>
            <a:pPr algn="ctr"/>
            <a:r>
              <a:rPr lang="en-US" sz="1600" b="1" dirty="0">
                <a:effectLst/>
                <a:latin typeface="+mj-lt"/>
                <a:ea typeface="Times New Roman" panose="02020603050405020304" pitchFamily="18" charset="0"/>
              </a:rPr>
              <a:t>performance and latency for</a:t>
            </a:r>
          </a:p>
          <a:p>
            <a:pPr algn="ctr"/>
            <a:r>
              <a:rPr lang="en-US" sz="1600" b="1" dirty="0">
                <a:effectLst/>
                <a:latin typeface="+mj-lt"/>
                <a:ea typeface="Times New Roman" panose="02020603050405020304" pitchFamily="18" charset="0"/>
              </a:rPr>
              <a:t>single-model experiments</a:t>
            </a:r>
            <a:endParaRPr lang="en-US" sz="1600" b="1" dirty="0">
              <a:latin typeface="+mj-lt"/>
            </a:endParaRPr>
          </a:p>
        </p:txBody>
      </p:sp>
      <p:pic>
        <p:nvPicPr>
          <p:cNvPr id="18" name="Picture 17">
            <a:extLst>
              <a:ext uri="{FF2B5EF4-FFF2-40B4-BE49-F238E27FC236}">
                <a16:creationId xmlns:a16="http://schemas.microsoft.com/office/drawing/2014/main" id="{30934DED-9AC4-8B24-099E-ED75E6B7D20B}"/>
              </a:ext>
            </a:extLst>
          </p:cNvPr>
          <p:cNvPicPr>
            <a:picLocks noChangeAspect="1"/>
          </p:cNvPicPr>
          <p:nvPr/>
        </p:nvPicPr>
        <p:blipFill>
          <a:blip r:embed="rId5"/>
          <a:stretch>
            <a:fillRect/>
          </a:stretch>
        </p:blipFill>
        <p:spPr>
          <a:xfrm>
            <a:off x="9081655" y="1414308"/>
            <a:ext cx="2590800" cy="3543300"/>
          </a:xfrm>
          <a:prstGeom prst="rect">
            <a:avLst/>
          </a:prstGeom>
        </p:spPr>
      </p:pic>
      <p:sp>
        <p:nvSpPr>
          <p:cNvPr id="19" name="TextBox 18">
            <a:extLst>
              <a:ext uri="{FF2B5EF4-FFF2-40B4-BE49-F238E27FC236}">
                <a16:creationId xmlns:a16="http://schemas.microsoft.com/office/drawing/2014/main" id="{17CDD313-F709-7733-FE16-3F3F8DB8B4AC}"/>
              </a:ext>
            </a:extLst>
          </p:cNvPr>
          <p:cNvSpPr txBox="1"/>
          <p:nvPr/>
        </p:nvSpPr>
        <p:spPr>
          <a:xfrm>
            <a:off x="9081655" y="4963950"/>
            <a:ext cx="2119489" cy="584775"/>
          </a:xfrm>
          <a:prstGeom prst="rect">
            <a:avLst/>
          </a:prstGeom>
          <a:noFill/>
        </p:spPr>
        <p:txBody>
          <a:bodyPr wrap="square">
            <a:spAutoFit/>
          </a:bodyPr>
          <a:lstStyle/>
          <a:p>
            <a:pPr algn="ctr"/>
            <a:r>
              <a:rPr lang="en-US" sz="1600" b="1" dirty="0">
                <a:effectLst/>
                <a:latin typeface="+mj-lt"/>
                <a:ea typeface="Times New Roman" panose="02020603050405020304" pitchFamily="18" charset="0"/>
              </a:rPr>
              <a:t>SLMs Used in Agentic Experiments</a:t>
            </a:r>
            <a:endParaRPr lang="en-US" sz="1600" b="1" dirty="0">
              <a:latin typeface="+mj-lt"/>
            </a:endParaRPr>
          </a:p>
        </p:txBody>
      </p:sp>
    </p:spTree>
    <p:extLst>
      <p:ext uri="{BB962C8B-B14F-4D97-AF65-F5344CB8AC3E}">
        <p14:creationId xmlns:p14="http://schemas.microsoft.com/office/powerpoint/2010/main" val="241881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AE40B-1CEA-19D9-03A0-D0E577FD96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39959-2F24-1C84-CDDB-F754D79D9F3B}"/>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Benchmark Datasets</a:t>
            </a:r>
            <a:endParaRPr lang="en-US" dirty="0"/>
          </a:p>
        </p:txBody>
      </p:sp>
      <p:sp>
        <p:nvSpPr>
          <p:cNvPr id="5" name="Content Placeholder 2">
            <a:extLst>
              <a:ext uri="{FF2B5EF4-FFF2-40B4-BE49-F238E27FC236}">
                <a16:creationId xmlns:a16="http://schemas.microsoft.com/office/drawing/2014/main" id="{37E958FC-B40E-6567-4D23-C392EAC9324C}"/>
              </a:ext>
            </a:extLst>
          </p:cNvPr>
          <p:cNvSpPr txBox="1">
            <a:spLocks/>
          </p:cNvSpPr>
          <p:nvPr/>
        </p:nvSpPr>
        <p:spPr>
          <a:xfrm>
            <a:off x="355231" y="1414307"/>
            <a:ext cx="11199460" cy="5152747"/>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600" b="1" dirty="0" err="1"/>
              <a:t>HumanEval</a:t>
            </a:r>
            <a:r>
              <a:rPr lang="en-US" sz="1600" dirty="0"/>
              <a:t>: </a:t>
            </a:r>
            <a:r>
              <a:rPr lang="en-US" sz="1600" b="1" dirty="0"/>
              <a:t>164</a:t>
            </a:r>
            <a:r>
              <a:rPr lang="en-US" sz="1600" dirty="0"/>
              <a:t> hand‑crafted Python problems (function signature + docstring) each with ~7.7 hidden unit tests, designed to measure both syntactic accuracy and semantic correctness for LLM‑driven code generation.</a:t>
            </a:r>
          </a:p>
          <a:p>
            <a:pPr algn="just"/>
            <a:endParaRPr lang="en-US" sz="800" dirty="0"/>
          </a:p>
          <a:p>
            <a:pPr algn="just"/>
            <a:r>
              <a:rPr lang="en-US" sz="1600" b="1" dirty="0"/>
              <a:t>MBPP</a:t>
            </a:r>
            <a:r>
              <a:rPr lang="en-US" sz="1600" dirty="0"/>
              <a:t>: 974 entry‑level Python tasks (average 6.8 lines of code) split into few‑shot, </a:t>
            </a:r>
            <a:r>
              <a:rPr lang="en-US" sz="1600" b="1" dirty="0"/>
              <a:t>500‑test</a:t>
            </a:r>
            <a:r>
              <a:rPr lang="en-US" sz="1600" dirty="0"/>
              <a:t>, 374‑fine‑tune, and 180‑validation subsets; each problem includes a description, function signature, and three assert‑based tests.</a:t>
            </a:r>
          </a:p>
          <a:p>
            <a:pPr algn="just"/>
            <a:endParaRPr lang="en-US" sz="800" dirty="0"/>
          </a:p>
          <a:p>
            <a:pPr algn="just"/>
            <a:r>
              <a:rPr lang="en-US" sz="1600" b="1" dirty="0"/>
              <a:t>LBPP</a:t>
            </a:r>
            <a:r>
              <a:rPr lang="en-US" sz="1600" dirty="0"/>
              <a:t>: </a:t>
            </a:r>
            <a:r>
              <a:rPr lang="en-US" sz="1600" b="1" dirty="0"/>
              <a:t>161</a:t>
            </a:r>
            <a:r>
              <a:rPr lang="en-US" sz="1600" dirty="0"/>
              <a:t> uncontaminated Python coding tasks with canonical solutions and tests, curated to avoid overlap with popular benchmarks and provide a more trustworthy, challenging measure of true generalization.</a:t>
            </a:r>
          </a:p>
          <a:p>
            <a:pPr algn="just"/>
            <a:endParaRPr lang="en-US" sz="800" dirty="0"/>
          </a:p>
          <a:p>
            <a:pPr algn="just"/>
            <a:r>
              <a:rPr lang="en-US" sz="1600" b="1" dirty="0" err="1"/>
              <a:t>BigCodeBench</a:t>
            </a:r>
            <a:r>
              <a:rPr lang="en-US" sz="1600" dirty="0"/>
              <a:t>: selected </a:t>
            </a:r>
            <a:r>
              <a:rPr lang="en-US" sz="1600" b="1" dirty="0"/>
              <a:t>500</a:t>
            </a:r>
            <a:r>
              <a:rPr lang="en-US" sz="1600" dirty="0"/>
              <a:t> out of 1,140 tasks, covering 139 libraries in 7 domains with ≈5.6 tests per task and 99% branch coverage to emulate real‑world compositional and tool‑use challenges.</a:t>
            </a:r>
          </a:p>
          <a:p>
            <a:pPr algn="just"/>
            <a:endParaRPr lang="en-US" sz="800" dirty="0"/>
          </a:p>
          <a:p>
            <a:pPr marL="0" indent="0" algn="just">
              <a:buNone/>
            </a:pPr>
            <a:r>
              <a:rPr lang="en-US" sz="1600" b="1" dirty="0"/>
              <a:t>Discarded</a:t>
            </a:r>
            <a:r>
              <a:rPr lang="en-US" sz="1600" dirty="0"/>
              <a:t>:</a:t>
            </a:r>
          </a:p>
          <a:p>
            <a:pPr algn="just"/>
            <a:r>
              <a:rPr lang="en-US" sz="1600" b="1" dirty="0" err="1"/>
              <a:t>LiveCodeBench</a:t>
            </a:r>
            <a:r>
              <a:rPr lang="en-US" sz="1600" dirty="0"/>
              <a:t> has a huge size (~10GB) and an excruciating number of test cases: some don't even fit into a </a:t>
            </a:r>
            <a:r>
              <a:rPr lang="en-US" sz="1600" dirty="0" err="1"/>
              <a:t>Jupyter</a:t>
            </a:r>
            <a:r>
              <a:rPr lang="en-US" sz="1600" dirty="0"/>
              <a:t> Notebook cell causing output errors. Private test cases are scrambled and look unusable.</a:t>
            </a:r>
          </a:p>
          <a:p>
            <a:pPr algn="just"/>
            <a:endParaRPr lang="en-US" sz="800" dirty="0"/>
          </a:p>
          <a:p>
            <a:pPr algn="just"/>
            <a:r>
              <a:rPr lang="en-US" sz="1600" b="1" dirty="0"/>
              <a:t>Taco</a:t>
            </a:r>
            <a:r>
              <a:rPr lang="en-US" sz="1600" dirty="0"/>
              <a:t> has a huge size (5GB); there are no test cases per se, but only inputs and expected outputs. Since they come from different sources, it may take time to parse them properly and write assert statements or test cases for them.</a:t>
            </a:r>
          </a:p>
          <a:p>
            <a:pPr algn="just"/>
            <a:endParaRPr lang="en-US" sz="1600" dirty="0"/>
          </a:p>
          <a:p>
            <a:pPr algn="just"/>
            <a:endParaRPr lang="en-US" sz="1600" dirty="0"/>
          </a:p>
          <a:p>
            <a:pPr algn="just"/>
            <a:endParaRPr lang="en-US" sz="1600" dirty="0"/>
          </a:p>
        </p:txBody>
      </p:sp>
    </p:spTree>
    <p:extLst>
      <p:ext uri="{BB962C8B-B14F-4D97-AF65-F5344CB8AC3E}">
        <p14:creationId xmlns:p14="http://schemas.microsoft.com/office/powerpoint/2010/main" val="2027509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78DC8-831A-960B-B422-39CC461E2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204818-4528-89EC-F649-67638548EF2B}"/>
              </a:ext>
            </a:extLst>
          </p:cNvPr>
          <p:cNvSpPr>
            <a:spLocks noGrp="1"/>
          </p:cNvSpPr>
          <p:nvPr>
            <p:ph type="title"/>
          </p:nvPr>
        </p:nvSpPr>
        <p:spPr>
          <a:xfrm>
            <a:off x="0" y="1"/>
            <a:ext cx="12192000" cy="740779"/>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Metric</a:t>
            </a:r>
            <a:endParaRPr lang="en-US" dirty="0"/>
          </a:p>
        </p:txBody>
      </p:sp>
      <p:sp>
        <p:nvSpPr>
          <p:cNvPr id="5" name="Content Placeholder 2">
            <a:extLst>
              <a:ext uri="{FF2B5EF4-FFF2-40B4-BE49-F238E27FC236}">
                <a16:creationId xmlns:a16="http://schemas.microsoft.com/office/drawing/2014/main" id="{E7410DD1-9E1D-A30C-FB52-6CBAB46D208D}"/>
              </a:ext>
            </a:extLst>
          </p:cNvPr>
          <p:cNvSpPr txBox="1">
            <a:spLocks/>
          </p:cNvSpPr>
          <p:nvPr/>
        </p:nvSpPr>
        <p:spPr>
          <a:xfrm>
            <a:off x="159014" y="1414308"/>
            <a:ext cx="2664143" cy="4029384"/>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400" dirty="0"/>
              <a:t>The </a:t>
            </a:r>
            <a:r>
              <a:rPr lang="en-US" sz="1400" dirty="0" err="1"/>
              <a:t>pass@k</a:t>
            </a:r>
            <a:r>
              <a:rPr lang="en-US" sz="1400" dirty="0"/>
              <a:t> score was used to evaluate performance across all four datasets - the probability that at least one of the top k generated code samples correctly passes all tests.</a:t>
            </a:r>
          </a:p>
          <a:p>
            <a:pPr algn="just"/>
            <a:r>
              <a:rPr lang="en-US" sz="1400" dirty="0"/>
              <a:t>In other words, for k=1 it’s the percentage of passed test cases when the model had only one chance to generate the code based on a natural language description.</a:t>
            </a:r>
          </a:p>
          <a:p>
            <a:pPr algn="just"/>
            <a:r>
              <a:rPr lang="en-US" sz="1400" dirty="0"/>
              <a:t>OpenAI wrote the testing code in Python for the </a:t>
            </a:r>
            <a:r>
              <a:rPr lang="en-US" sz="1400" dirty="0" err="1"/>
              <a:t>HumanEval</a:t>
            </a:r>
            <a:r>
              <a:rPr lang="en-US" sz="1400" dirty="0"/>
              <a:t> dataset.</a:t>
            </a:r>
          </a:p>
          <a:p>
            <a:pPr algn="just"/>
            <a:r>
              <a:rPr lang="en-US" sz="1400" dirty="0"/>
              <a:t>The author expanded the functionality to cover the other three datasets: MBPP, LBPP, </a:t>
            </a:r>
            <a:r>
              <a:rPr lang="en-US" sz="1400" dirty="0" err="1"/>
              <a:t>BigCodeBench</a:t>
            </a:r>
            <a:r>
              <a:rPr lang="en-US" sz="1400" dirty="0"/>
              <a:t>.</a:t>
            </a:r>
          </a:p>
        </p:txBody>
      </p:sp>
      <p:pic>
        <p:nvPicPr>
          <p:cNvPr id="4" name="Picture 3">
            <a:extLst>
              <a:ext uri="{FF2B5EF4-FFF2-40B4-BE49-F238E27FC236}">
                <a16:creationId xmlns:a16="http://schemas.microsoft.com/office/drawing/2014/main" id="{C8610DF5-CE26-B768-D042-BAF85FDAF243}"/>
              </a:ext>
            </a:extLst>
          </p:cNvPr>
          <p:cNvPicPr>
            <a:picLocks noChangeAspect="1"/>
          </p:cNvPicPr>
          <p:nvPr/>
        </p:nvPicPr>
        <p:blipFill>
          <a:blip r:embed="rId3"/>
          <a:stretch>
            <a:fillRect/>
          </a:stretch>
        </p:blipFill>
        <p:spPr>
          <a:xfrm>
            <a:off x="2877997" y="736599"/>
            <a:ext cx="4838700" cy="6121400"/>
          </a:xfrm>
          <a:prstGeom prst="rect">
            <a:avLst/>
          </a:prstGeom>
        </p:spPr>
      </p:pic>
      <p:pic>
        <p:nvPicPr>
          <p:cNvPr id="6" name="Picture 5">
            <a:extLst>
              <a:ext uri="{FF2B5EF4-FFF2-40B4-BE49-F238E27FC236}">
                <a16:creationId xmlns:a16="http://schemas.microsoft.com/office/drawing/2014/main" id="{CD5DB1CD-8894-6132-2E86-02943A3CC0DD}"/>
              </a:ext>
            </a:extLst>
          </p:cNvPr>
          <p:cNvPicPr>
            <a:picLocks noChangeAspect="1"/>
          </p:cNvPicPr>
          <p:nvPr/>
        </p:nvPicPr>
        <p:blipFill>
          <a:blip r:embed="rId4"/>
          <a:stretch>
            <a:fillRect/>
          </a:stretch>
        </p:blipFill>
        <p:spPr>
          <a:xfrm>
            <a:off x="7659781" y="736599"/>
            <a:ext cx="4532219" cy="4602760"/>
          </a:xfrm>
          <a:prstGeom prst="rect">
            <a:avLst/>
          </a:prstGeom>
        </p:spPr>
      </p:pic>
    </p:spTree>
    <p:extLst>
      <p:ext uri="{BB962C8B-B14F-4D97-AF65-F5344CB8AC3E}">
        <p14:creationId xmlns:p14="http://schemas.microsoft.com/office/powerpoint/2010/main" val="3794683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E90A-5D57-74CD-A696-7C506769F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B67257-3D21-FD69-D2A9-7A9D83861B7A}"/>
              </a:ext>
            </a:extLst>
          </p:cNvPr>
          <p:cNvSpPr>
            <a:spLocks noGrp="1"/>
          </p:cNvSpPr>
          <p:nvPr>
            <p:ph type="title"/>
          </p:nvPr>
        </p:nvSpPr>
        <p:spPr>
          <a:xfrm>
            <a:off x="0" y="1"/>
            <a:ext cx="12192000" cy="825862"/>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Prompts</a:t>
            </a:r>
            <a:endParaRPr lang="en-US" dirty="0"/>
          </a:p>
        </p:txBody>
      </p:sp>
      <p:sp>
        <p:nvSpPr>
          <p:cNvPr id="4" name="TextBox 3">
            <a:extLst>
              <a:ext uri="{FF2B5EF4-FFF2-40B4-BE49-F238E27FC236}">
                <a16:creationId xmlns:a16="http://schemas.microsoft.com/office/drawing/2014/main" id="{48E7FF77-47BC-B09B-5079-A881C4100D68}"/>
              </a:ext>
            </a:extLst>
          </p:cNvPr>
          <p:cNvSpPr txBox="1"/>
          <p:nvPr/>
        </p:nvSpPr>
        <p:spPr>
          <a:xfrm>
            <a:off x="4258042" y="6145797"/>
            <a:ext cx="1674561" cy="307777"/>
          </a:xfrm>
          <a:prstGeom prst="rect">
            <a:avLst/>
          </a:prstGeom>
          <a:noFill/>
        </p:spPr>
        <p:txBody>
          <a:bodyPr wrap="none" rtlCol="0">
            <a:spAutoFit/>
          </a:bodyPr>
          <a:lstStyle/>
          <a:p>
            <a:r>
              <a:rPr lang="en-US" sz="1400" b="1" dirty="0"/>
              <a:t>Prompt Templates</a:t>
            </a:r>
          </a:p>
        </p:txBody>
      </p:sp>
      <p:pic>
        <p:nvPicPr>
          <p:cNvPr id="6" name="Picture 5" descr="A screenshot of a computer program&#10;&#10;AI-generated content may be incorrect.">
            <a:extLst>
              <a:ext uri="{FF2B5EF4-FFF2-40B4-BE49-F238E27FC236}">
                <a16:creationId xmlns:a16="http://schemas.microsoft.com/office/drawing/2014/main" id="{C3168C42-83F7-CF9B-DEA3-A5611B7085C6}"/>
              </a:ext>
            </a:extLst>
          </p:cNvPr>
          <p:cNvPicPr>
            <a:picLocks noChangeAspect="1"/>
          </p:cNvPicPr>
          <p:nvPr/>
        </p:nvPicPr>
        <p:blipFill>
          <a:blip r:embed="rId3"/>
          <a:stretch>
            <a:fillRect/>
          </a:stretch>
        </p:blipFill>
        <p:spPr>
          <a:xfrm>
            <a:off x="8737856" y="825863"/>
            <a:ext cx="3426691" cy="3204503"/>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FBDB6B12-A7ED-9DB6-5C7D-0E9198E8D285}"/>
              </a:ext>
            </a:extLst>
          </p:cNvPr>
          <p:cNvPicPr>
            <a:picLocks noChangeAspect="1"/>
          </p:cNvPicPr>
          <p:nvPr/>
        </p:nvPicPr>
        <p:blipFill>
          <a:blip r:embed="rId4"/>
          <a:stretch>
            <a:fillRect/>
          </a:stretch>
        </p:blipFill>
        <p:spPr>
          <a:xfrm>
            <a:off x="8152260" y="4030365"/>
            <a:ext cx="4012287" cy="2739143"/>
          </a:xfrm>
          <a:prstGeom prst="rect">
            <a:avLst/>
          </a:prstGeom>
        </p:spPr>
      </p:pic>
      <p:sp>
        <p:nvSpPr>
          <p:cNvPr id="9" name="TextBox 8">
            <a:extLst>
              <a:ext uri="{FF2B5EF4-FFF2-40B4-BE49-F238E27FC236}">
                <a16:creationId xmlns:a16="http://schemas.microsoft.com/office/drawing/2014/main" id="{DECBD045-4218-E5E0-060F-CF760DA56151}"/>
              </a:ext>
            </a:extLst>
          </p:cNvPr>
          <p:cNvSpPr txBox="1"/>
          <p:nvPr/>
        </p:nvSpPr>
        <p:spPr>
          <a:xfrm>
            <a:off x="7704598" y="3059668"/>
            <a:ext cx="1033873" cy="738664"/>
          </a:xfrm>
          <a:prstGeom prst="rect">
            <a:avLst/>
          </a:prstGeom>
          <a:noFill/>
        </p:spPr>
        <p:txBody>
          <a:bodyPr wrap="none" rtlCol="0">
            <a:spAutoFit/>
          </a:bodyPr>
          <a:lstStyle/>
          <a:p>
            <a:pPr algn="r"/>
            <a:r>
              <a:rPr lang="en-US" sz="1400" b="1" dirty="0"/>
              <a:t>Actual</a:t>
            </a:r>
          </a:p>
          <a:p>
            <a:pPr algn="r"/>
            <a:r>
              <a:rPr lang="en-US" sz="1400" b="1" dirty="0"/>
              <a:t>Templates</a:t>
            </a:r>
          </a:p>
          <a:p>
            <a:pPr algn="r"/>
            <a:r>
              <a:rPr lang="en-US" sz="1400" b="1" dirty="0"/>
              <a:t>from Logs</a:t>
            </a:r>
          </a:p>
        </p:txBody>
      </p:sp>
      <p:sp>
        <p:nvSpPr>
          <p:cNvPr id="10" name="TextBox 9">
            <a:extLst>
              <a:ext uri="{FF2B5EF4-FFF2-40B4-BE49-F238E27FC236}">
                <a16:creationId xmlns:a16="http://schemas.microsoft.com/office/drawing/2014/main" id="{C3250959-F61F-F977-4E79-D8DBADAE4A03}"/>
              </a:ext>
            </a:extLst>
          </p:cNvPr>
          <p:cNvSpPr txBox="1"/>
          <p:nvPr/>
        </p:nvSpPr>
        <p:spPr>
          <a:xfrm>
            <a:off x="229781" y="1651994"/>
            <a:ext cx="2115874" cy="3667671"/>
          </a:xfrm>
          <a:prstGeom prst="rect">
            <a:avLst/>
          </a:prstGeom>
          <a:noFill/>
        </p:spPr>
        <p:txBody>
          <a:bodyPr wrap="square" rtlCol="0">
            <a:spAutoFit/>
          </a:bodyPr>
          <a:lstStyle/>
          <a:p>
            <a:pPr marL="171450" lvl="0" indent="-171450" algn="just">
              <a:spcAft>
                <a:spcPts val="1000"/>
              </a:spcAft>
              <a:buFont typeface="Arial" panose="020B0604020202020204" pitchFamily="34" charset="0"/>
              <a:buChar char="•"/>
            </a:pPr>
            <a:r>
              <a:rPr lang="en-US" sz="1600" b="1" dirty="0" err="1"/>
              <a:t>HumanEval</a:t>
            </a:r>
            <a:r>
              <a:rPr lang="en-US" sz="1600" b="1" dirty="0"/>
              <a:t> &amp; </a:t>
            </a:r>
            <a:r>
              <a:rPr lang="en-US" sz="1600" b="1" dirty="0" err="1"/>
              <a:t>BigCodeBench</a:t>
            </a:r>
            <a:r>
              <a:rPr lang="en-US" sz="1600" b="1" dirty="0"/>
              <a:t>:</a:t>
            </a:r>
            <a:r>
              <a:rPr lang="en-US" sz="1600" dirty="0"/>
              <a:t> model completes the starter code (function headers and docstrings) to satisfy hidden tests.</a:t>
            </a:r>
          </a:p>
          <a:p>
            <a:pPr marL="171450" indent="-171450" algn="just">
              <a:spcAft>
                <a:spcPts val="1000"/>
              </a:spcAft>
              <a:buFont typeface="Arial" panose="020B0604020202020204" pitchFamily="34" charset="0"/>
              <a:buChar char="•"/>
            </a:pPr>
            <a:r>
              <a:rPr lang="en-US" sz="1600" b="1" dirty="0"/>
              <a:t>MBPP &amp; LBPP:</a:t>
            </a:r>
            <a:r>
              <a:rPr lang="en-US" sz="1600" dirty="0"/>
              <a:t> Natural-language descriptions of tasks are followed by explicit test cases in the prompt.</a:t>
            </a:r>
            <a:r>
              <a:rPr lang="en-US" sz="1600" dirty="0">
                <a:effectLst/>
              </a:rPr>
              <a:t> </a:t>
            </a:r>
            <a:endParaRPr lang="en-US" sz="1600" dirty="0"/>
          </a:p>
        </p:txBody>
      </p:sp>
      <p:pic>
        <p:nvPicPr>
          <p:cNvPr id="12" name="Picture 11">
            <a:extLst>
              <a:ext uri="{FF2B5EF4-FFF2-40B4-BE49-F238E27FC236}">
                <a16:creationId xmlns:a16="http://schemas.microsoft.com/office/drawing/2014/main" id="{2F8DC698-D6F1-F760-EEA4-C70CD175298B}"/>
              </a:ext>
            </a:extLst>
          </p:cNvPr>
          <p:cNvPicPr>
            <a:picLocks noChangeAspect="1"/>
          </p:cNvPicPr>
          <p:nvPr/>
        </p:nvPicPr>
        <p:blipFill>
          <a:blip r:embed="rId5"/>
          <a:stretch>
            <a:fillRect/>
          </a:stretch>
        </p:blipFill>
        <p:spPr>
          <a:xfrm>
            <a:off x="2638453" y="825863"/>
            <a:ext cx="5080000" cy="5319934"/>
          </a:xfrm>
          <a:prstGeom prst="rect">
            <a:avLst/>
          </a:prstGeom>
        </p:spPr>
      </p:pic>
    </p:spTree>
    <p:extLst>
      <p:ext uri="{BB962C8B-B14F-4D97-AF65-F5344CB8AC3E}">
        <p14:creationId xmlns:p14="http://schemas.microsoft.com/office/powerpoint/2010/main" val="1703831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6CFDC-3401-A6D4-F961-E3FBF8ACDE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9C1AC-CF00-48F2-800A-39847CDF1A32}"/>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Post-processing</a:t>
            </a:r>
            <a:endParaRPr lang="en-US" dirty="0"/>
          </a:p>
        </p:txBody>
      </p:sp>
      <p:sp>
        <p:nvSpPr>
          <p:cNvPr id="5" name="Content Placeholder 2">
            <a:extLst>
              <a:ext uri="{FF2B5EF4-FFF2-40B4-BE49-F238E27FC236}">
                <a16:creationId xmlns:a16="http://schemas.microsoft.com/office/drawing/2014/main" id="{2C4BAD60-6C8E-EC67-C34A-31EBB2100796}"/>
              </a:ext>
            </a:extLst>
          </p:cNvPr>
          <p:cNvSpPr txBox="1">
            <a:spLocks/>
          </p:cNvSpPr>
          <p:nvPr/>
        </p:nvSpPr>
        <p:spPr>
          <a:xfrm>
            <a:off x="493777" y="1563503"/>
            <a:ext cx="11034608" cy="4029384"/>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t>Raw Output</a:t>
            </a:r>
            <a:r>
              <a:rPr lang="en-US" sz="1600" dirty="0"/>
              <a:t> - no post‑processing: the model’s entire unchanged response is passed through the generated code evaluation pipeline.</a:t>
            </a:r>
          </a:p>
          <a:p>
            <a:endParaRPr lang="en-US" sz="1600" dirty="0"/>
          </a:p>
          <a:p>
            <a:r>
              <a:rPr lang="en-US" sz="1600" b="1" dirty="0"/>
              <a:t>Fence Extraction Only</a:t>
            </a:r>
            <a:r>
              <a:rPr lang="en-US" sz="1600" dirty="0"/>
              <a:t>: lightweight cleaning is done before the generated code is evaluated to capture just the first Python-style code block (from “```python” to the next closing backticks), stripping away preamble and trailing prose while potentially leaving assertions and print calls.</a:t>
            </a:r>
          </a:p>
          <a:p>
            <a:endParaRPr lang="en-US" sz="1600" dirty="0"/>
          </a:p>
          <a:p>
            <a:r>
              <a:rPr lang="en-US" sz="1600" b="1" dirty="0"/>
              <a:t>Full Cleaning Pipeline</a:t>
            </a:r>
            <a:r>
              <a:rPr lang="en-US" sz="1600" dirty="0"/>
              <a:t>: Apply a sequence of edits—extract fenced code, remove any if __name__ == "__main__" blocks, prune assert and print(...) lines, discard stray fence markers, reattach missing function signatures and imports, and inject from typing import *—to produce a self‑contained, executable Python snippet.</a:t>
            </a:r>
          </a:p>
          <a:p>
            <a:endParaRPr lang="en-US" sz="1600" dirty="0"/>
          </a:p>
        </p:txBody>
      </p:sp>
    </p:spTree>
    <p:extLst>
      <p:ext uri="{BB962C8B-B14F-4D97-AF65-F5344CB8AC3E}">
        <p14:creationId xmlns:p14="http://schemas.microsoft.com/office/powerpoint/2010/main" val="4188988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A50BA-3E56-ABC8-D50B-1642E9011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A2512-F943-02C2-A69E-5CF232B59EBE}"/>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Agentic Workflows</a:t>
            </a:r>
            <a:endParaRPr lang="en-US" dirty="0"/>
          </a:p>
        </p:txBody>
      </p:sp>
      <p:sp>
        <p:nvSpPr>
          <p:cNvPr id="5" name="Content Placeholder 2">
            <a:extLst>
              <a:ext uri="{FF2B5EF4-FFF2-40B4-BE49-F238E27FC236}">
                <a16:creationId xmlns:a16="http://schemas.microsoft.com/office/drawing/2014/main" id="{917E0DB0-0A0D-4A56-07A5-D061B58A7466}"/>
              </a:ext>
            </a:extLst>
          </p:cNvPr>
          <p:cNvSpPr txBox="1">
            <a:spLocks/>
          </p:cNvSpPr>
          <p:nvPr/>
        </p:nvSpPr>
        <p:spPr>
          <a:xfrm>
            <a:off x="493777" y="1563503"/>
            <a:ext cx="11034608" cy="451864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600" b="1" u="sng" dirty="0"/>
              <a:t>Reflection agents</a:t>
            </a:r>
            <a:r>
              <a:rPr lang="en-US" sz="1600" dirty="0"/>
              <a:t> use a two‑step loop—generate code, then immediately review and revise it—to iteratively clean up errors and improve structure, much like an author self‑edits. This simple self‑critique workflow can boost performance dramatically: for example, it achieved a 91 % pass@1 rate on </a:t>
            </a:r>
            <a:r>
              <a:rPr lang="en-US" sz="1600" dirty="0" err="1"/>
              <a:t>HumanEval</a:t>
            </a:r>
            <a:r>
              <a:rPr lang="en-US" sz="1600" dirty="0"/>
              <a:t> versus GPT‑4’s previous best of 80 %.</a:t>
            </a:r>
          </a:p>
          <a:p>
            <a:pPr lvl="1"/>
            <a:r>
              <a:rPr lang="en-US" sz="1600" b="1" dirty="0"/>
              <a:t>Initial Code Generation Prompt</a:t>
            </a:r>
            <a:r>
              <a:rPr lang="en-US" sz="1600" dirty="0"/>
              <a:t>: The agent is given a problem statement and generates a first-pass solution in code form.</a:t>
            </a:r>
          </a:p>
          <a:p>
            <a:pPr lvl="1"/>
            <a:r>
              <a:rPr lang="en-US" sz="1600" b="1" dirty="0"/>
              <a:t>Reflection Prompt</a:t>
            </a:r>
            <a:r>
              <a:rPr lang="en-US" sz="1600" dirty="0"/>
              <a:t>: The agent receives its own code output, along with an instruction to optimize it: fill missing imports, remove extraneous text, fix logic errors, etc. The agent then outputs a revised solution, presumably more accurate</a:t>
            </a:r>
          </a:p>
          <a:p>
            <a:pPr lvl="1"/>
            <a:endParaRPr lang="en-US" sz="1600" dirty="0"/>
          </a:p>
          <a:p>
            <a:pPr marL="355600" lvl="1" indent="-342900">
              <a:buFont typeface="+mj-lt"/>
              <a:buAutoNum type="arabicPeriod" startAt="2"/>
            </a:pPr>
            <a:r>
              <a:rPr lang="en-US" sz="1600" b="1" u="sng" dirty="0"/>
              <a:t>Multi-Agent Collaboration Agents</a:t>
            </a:r>
            <a:r>
              <a:rPr lang="en-US" sz="1600" dirty="0"/>
              <a:t> generalize the idea of iterative refinement by introducing multiple specialized agents that coordinate to improve the generated code. In this Praxis such frameworks orchestrate a sequence of agents, each responsible for a specific cleanup or verification step:</a:t>
            </a:r>
          </a:p>
          <a:p>
            <a:pPr marL="641350" lvl="2" indent="-171450"/>
            <a:r>
              <a:rPr lang="en-US" sz="1600" dirty="0"/>
              <a:t>Code Fence Removal</a:t>
            </a:r>
          </a:p>
          <a:p>
            <a:pPr marL="641350" lvl="2" indent="-171450"/>
            <a:r>
              <a:rPr lang="en-US" sz="1600" dirty="0"/>
              <a:t>Extraneous Text Removal</a:t>
            </a:r>
          </a:p>
          <a:p>
            <a:pPr marL="641350" lvl="2" indent="-171450"/>
            <a:r>
              <a:rPr lang="en-US" sz="1600" dirty="0"/>
              <a:t>Import Checker Agent</a:t>
            </a:r>
          </a:p>
          <a:p>
            <a:pPr marL="641350" lvl="2" indent="-171450"/>
            <a:r>
              <a:rPr lang="en-US" sz="1600" dirty="0"/>
              <a:t>Potential Code Execution Agent (if plausible)</a:t>
            </a:r>
          </a:p>
          <a:p>
            <a:pPr marL="641350" lvl="2" indent="-171450"/>
            <a:r>
              <a:rPr lang="en-US" sz="1600" dirty="0"/>
              <a:t>Test-Case Removal</a:t>
            </a:r>
          </a:p>
          <a:p>
            <a:pPr marL="355600" lvl="1" indent="-342900">
              <a:buFont typeface="+mj-lt"/>
              <a:buAutoNum type="arabicPeriod" startAt="2"/>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endParaRPr lang="en-US" sz="1600" dirty="0"/>
          </a:p>
        </p:txBody>
      </p:sp>
    </p:spTree>
    <p:extLst>
      <p:ext uri="{BB962C8B-B14F-4D97-AF65-F5344CB8AC3E}">
        <p14:creationId xmlns:p14="http://schemas.microsoft.com/office/powerpoint/2010/main" val="3001664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11140-EFB9-37F4-0AA0-986A7A7DC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B9B09-9835-3459-10BA-663A490DBEC3}"/>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Experiments with Temperature and Fine-Tuning</a:t>
            </a:r>
            <a:endParaRPr lang="en-US" dirty="0"/>
          </a:p>
        </p:txBody>
      </p:sp>
      <p:sp>
        <p:nvSpPr>
          <p:cNvPr id="5" name="Content Placeholder 2">
            <a:extLst>
              <a:ext uri="{FF2B5EF4-FFF2-40B4-BE49-F238E27FC236}">
                <a16:creationId xmlns:a16="http://schemas.microsoft.com/office/drawing/2014/main" id="{79AF4C94-C1A3-E1AC-597D-B20406A8373C}"/>
              </a:ext>
            </a:extLst>
          </p:cNvPr>
          <p:cNvSpPr txBox="1">
            <a:spLocks/>
          </p:cNvSpPr>
          <p:nvPr/>
        </p:nvSpPr>
        <p:spPr>
          <a:xfrm>
            <a:off x="341377" y="1289615"/>
            <a:ext cx="11034608" cy="5235874"/>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700"/>
              </a:spcBef>
              <a:buNone/>
            </a:pPr>
            <a:r>
              <a:rPr lang="en-US" sz="1600" b="1" u="sng" dirty="0"/>
              <a:t>Experimenting with 2 main SLM parameters</a:t>
            </a:r>
            <a:r>
              <a:rPr lang="en-US" sz="1600" dirty="0"/>
              <a:t>:</a:t>
            </a:r>
          </a:p>
          <a:p>
            <a:pPr marL="342900" indent="-342900">
              <a:spcBef>
                <a:spcPts val="700"/>
              </a:spcBef>
              <a:buFont typeface="+mj-lt"/>
              <a:buAutoNum type="arabicPeriod"/>
            </a:pPr>
            <a:r>
              <a:rPr lang="en-US" sz="1600" b="1" dirty="0"/>
              <a:t>Temperature</a:t>
            </a:r>
            <a:r>
              <a:rPr lang="en-US" sz="1600" dirty="0"/>
              <a:t>: regulates the randomness for sampling the next token. A higher temperature (e.g., 1.0–1.2) makes the output more variable, while a lower value (e.g., 0.2–0.5) leads to more deterministic results and can reduce hallucinations and extraneous text, particularly in coding tasks.</a:t>
            </a:r>
          </a:p>
          <a:p>
            <a:pPr marL="342900" indent="-342900">
              <a:spcBef>
                <a:spcPts val="700"/>
              </a:spcBef>
              <a:buFont typeface="+mj-lt"/>
              <a:buAutoNum type="arabicPeriod"/>
            </a:pPr>
            <a:endParaRPr lang="en-US" sz="800" dirty="0"/>
          </a:p>
          <a:p>
            <a:pPr marL="342900" indent="-342900">
              <a:spcBef>
                <a:spcPts val="700"/>
              </a:spcBef>
              <a:buFont typeface="+mj-lt"/>
              <a:buAutoNum type="arabicPeriod"/>
            </a:pPr>
            <a:r>
              <a:rPr lang="en-US" sz="1600" b="1" dirty="0"/>
              <a:t>Top-p (Nucleus Sampling)</a:t>
            </a:r>
            <a:r>
              <a:rPr lang="en-US" sz="1600" dirty="0"/>
              <a:t>: represents the overall probability threshold for sampling the next token, limiting the token distribution to the highest-probability subset. Setting </a:t>
            </a:r>
            <a:r>
              <a:rPr lang="en-US" sz="1600" dirty="0" err="1"/>
              <a:t>top_p</a:t>
            </a:r>
            <a:r>
              <a:rPr lang="en-US" sz="1600" dirty="0"/>
              <a:t> below 1.0 prunes the “long tail” of unlikely tokens. This can yield more coherent outputs and reduce random code fragments, but if set too low (e.g. 0.5), the coverage of probable tokens may diminish which can impact the functional correctness.</a:t>
            </a:r>
          </a:p>
          <a:p>
            <a:pPr marL="342900" indent="-342900">
              <a:buFont typeface="+mj-lt"/>
              <a:buAutoNum type="arabicPeriod"/>
            </a:pPr>
            <a:endParaRPr lang="en-US" sz="1600" dirty="0"/>
          </a:p>
          <a:p>
            <a:pPr marL="0" indent="0">
              <a:spcBef>
                <a:spcPts val="700"/>
              </a:spcBef>
              <a:buNone/>
            </a:pPr>
            <a:r>
              <a:rPr lang="en-US" sz="1600" b="1" u="sng" dirty="0"/>
              <a:t>Fine-Tuning SLMs</a:t>
            </a:r>
            <a:r>
              <a:rPr lang="en-US" sz="1600" b="1" dirty="0"/>
              <a:t>:</a:t>
            </a:r>
          </a:p>
          <a:p>
            <a:pPr marL="342900" indent="-342900">
              <a:spcBef>
                <a:spcPts val="700"/>
              </a:spcBef>
              <a:buFont typeface="+mj-lt"/>
              <a:buAutoNum type="arabicPeriod"/>
            </a:pPr>
            <a:r>
              <a:rPr lang="en-US" sz="1600" dirty="0"/>
              <a:t>Higher correctness &amp; reduced hallucinations: Fine‑tuning on curated, domain‑specific code datasets teaches the model common libraries, patterns, and edge cases—resulting in fewer errors and more reliable, executable output.</a:t>
            </a:r>
          </a:p>
          <a:p>
            <a:pPr>
              <a:spcBef>
                <a:spcPts val="700"/>
              </a:spcBef>
              <a:buFont typeface="+mj-lt"/>
              <a:buAutoNum type="arabicPeriod"/>
            </a:pPr>
            <a:endParaRPr lang="en-US" sz="800" dirty="0"/>
          </a:p>
          <a:p>
            <a:pPr marL="342900" indent="-342900">
              <a:spcBef>
                <a:spcPts val="700"/>
              </a:spcBef>
              <a:buFont typeface="+mj-lt"/>
              <a:buAutoNum type="arabicPeriod"/>
            </a:pPr>
            <a:r>
              <a:rPr lang="en-US" sz="1600" dirty="0"/>
              <a:t>Better instruction following: Training on step‑by‑step code prompts sharpens prompt sensitivity, so SLMs produce concise, well‑structured solutions without extra commentary.</a:t>
            </a:r>
          </a:p>
          <a:p>
            <a:pPr>
              <a:spcBef>
                <a:spcPts val="700"/>
              </a:spcBef>
              <a:buFont typeface="+mj-lt"/>
              <a:buAutoNum type="arabicPeriod"/>
            </a:pPr>
            <a:endParaRPr lang="en-US" sz="800" dirty="0"/>
          </a:p>
          <a:p>
            <a:pPr marL="342900" indent="-342900">
              <a:spcBef>
                <a:spcPts val="700"/>
              </a:spcBef>
              <a:buFont typeface="+mj-lt"/>
              <a:buAutoNum type="arabicPeriod"/>
            </a:pPr>
            <a:r>
              <a:rPr lang="en-US" sz="1600" dirty="0"/>
              <a:t>Resource‑efficient adaptation: Techniques like </a:t>
            </a:r>
            <a:r>
              <a:rPr lang="en-US" sz="1600" dirty="0" err="1"/>
              <a:t>LoRA</a:t>
            </a:r>
            <a:r>
              <a:rPr lang="en-US" sz="1600" dirty="0"/>
              <a:t> or prefix tuning let you fine‑tune SLMs on a single GPU, cutting memory and training time while enabling seamless integration of specialized frameworks and coding styles.</a:t>
            </a:r>
          </a:p>
          <a:p>
            <a:pPr>
              <a:spcBef>
                <a:spcPts val="700"/>
              </a:spcBef>
            </a:pPr>
            <a:endParaRPr lang="en-US" sz="1600" dirty="0"/>
          </a:p>
          <a:p>
            <a:endParaRPr lang="en-US" sz="1600" dirty="0"/>
          </a:p>
        </p:txBody>
      </p:sp>
    </p:spTree>
    <p:extLst>
      <p:ext uri="{BB962C8B-B14F-4D97-AF65-F5344CB8AC3E}">
        <p14:creationId xmlns:p14="http://schemas.microsoft.com/office/powerpoint/2010/main" val="1880862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62939-8FFD-7029-5C1E-B4E073F4B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CE9579-CAD5-B9B8-C3C6-06F98CD61D34}"/>
              </a:ext>
            </a:extLst>
          </p:cNvPr>
          <p:cNvSpPr>
            <a:spLocks noGrp="1"/>
          </p:cNvSpPr>
          <p:nvPr>
            <p:ph type="title"/>
          </p:nvPr>
        </p:nvSpPr>
        <p:spPr>
          <a:xfrm>
            <a:off x="0" y="2161309"/>
            <a:ext cx="12192000" cy="2632364"/>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pPr algn="ctr"/>
            <a:r>
              <a:rPr lang="en-US" b="1" dirty="0">
                <a:solidFill>
                  <a:srgbClr val="FFFFFF"/>
                </a:solidFill>
              </a:rPr>
              <a:t>Results</a:t>
            </a:r>
            <a:endParaRPr lang="en-US" dirty="0"/>
          </a:p>
        </p:txBody>
      </p:sp>
    </p:spTree>
    <p:extLst>
      <p:ext uri="{BB962C8B-B14F-4D97-AF65-F5344CB8AC3E}">
        <p14:creationId xmlns:p14="http://schemas.microsoft.com/office/powerpoint/2010/main" val="1811315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D3C87-F96A-5170-B1E2-7F32F63F4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B1443A-042D-72D9-E016-5ED02FED9F04}"/>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Cleaning Effectiveness</a:t>
            </a:r>
            <a:endParaRPr lang="en-US" dirty="0"/>
          </a:p>
        </p:txBody>
      </p:sp>
      <p:pic>
        <p:nvPicPr>
          <p:cNvPr id="3" name="Picture 2">
            <a:extLst>
              <a:ext uri="{FF2B5EF4-FFF2-40B4-BE49-F238E27FC236}">
                <a16:creationId xmlns:a16="http://schemas.microsoft.com/office/drawing/2014/main" id="{D5D8CD62-0BE5-2D17-FE18-A93948339C3E}"/>
              </a:ext>
            </a:extLst>
          </p:cNvPr>
          <p:cNvPicPr>
            <a:picLocks noChangeAspect="1"/>
          </p:cNvPicPr>
          <p:nvPr/>
        </p:nvPicPr>
        <p:blipFill>
          <a:blip r:embed="rId3"/>
          <a:stretch>
            <a:fillRect/>
          </a:stretch>
        </p:blipFill>
        <p:spPr>
          <a:xfrm>
            <a:off x="5641735" y="1702273"/>
            <a:ext cx="6539308" cy="4392749"/>
          </a:xfrm>
          <a:prstGeom prst="rect">
            <a:avLst/>
          </a:prstGeom>
        </p:spPr>
      </p:pic>
      <p:pic>
        <p:nvPicPr>
          <p:cNvPr id="4" name="Picture 3" descr="A graph of a number of cleaning methods&#10;&#10;AI-generated content may be incorrect.">
            <a:extLst>
              <a:ext uri="{FF2B5EF4-FFF2-40B4-BE49-F238E27FC236}">
                <a16:creationId xmlns:a16="http://schemas.microsoft.com/office/drawing/2014/main" id="{9362B98F-256C-C473-3BE8-8A8E21EAF18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957" y="2262253"/>
            <a:ext cx="5486400" cy="3272790"/>
          </a:xfrm>
          <a:prstGeom prst="rect">
            <a:avLst/>
          </a:prstGeom>
          <a:noFill/>
          <a:ln>
            <a:noFill/>
          </a:ln>
        </p:spPr>
      </p:pic>
    </p:spTree>
    <p:extLst>
      <p:ext uri="{BB962C8B-B14F-4D97-AF65-F5344CB8AC3E}">
        <p14:creationId xmlns:p14="http://schemas.microsoft.com/office/powerpoint/2010/main" val="907385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90EEC-9756-F294-6CE6-56C9B69F0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BEA02-F465-47B5-38F1-62719390E150}"/>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Prompt Engineering </a:t>
            </a:r>
            <a:r>
              <a:rPr lang="en-US" b="1" dirty="0">
                <a:solidFill>
                  <a:schemeClr val="bg1"/>
                </a:solidFill>
              </a:rPr>
              <a:t>Results</a:t>
            </a:r>
            <a:endParaRPr lang="en-US" dirty="0"/>
          </a:p>
        </p:txBody>
      </p:sp>
      <p:pic>
        <p:nvPicPr>
          <p:cNvPr id="3" name="Picture 2">
            <a:extLst>
              <a:ext uri="{FF2B5EF4-FFF2-40B4-BE49-F238E27FC236}">
                <a16:creationId xmlns:a16="http://schemas.microsoft.com/office/drawing/2014/main" id="{E6AE6563-44B2-D571-7529-A4108788DA89}"/>
              </a:ext>
            </a:extLst>
          </p:cNvPr>
          <p:cNvPicPr>
            <a:picLocks noChangeAspect="1"/>
          </p:cNvPicPr>
          <p:nvPr/>
        </p:nvPicPr>
        <p:blipFill>
          <a:blip r:embed="rId3"/>
          <a:stretch>
            <a:fillRect/>
          </a:stretch>
        </p:blipFill>
        <p:spPr>
          <a:xfrm>
            <a:off x="701840" y="1260942"/>
            <a:ext cx="4363453" cy="1829221"/>
          </a:xfrm>
          <a:prstGeom prst="rect">
            <a:avLst/>
          </a:prstGeom>
        </p:spPr>
      </p:pic>
      <p:pic>
        <p:nvPicPr>
          <p:cNvPr id="4" name="Picture 3">
            <a:extLst>
              <a:ext uri="{FF2B5EF4-FFF2-40B4-BE49-F238E27FC236}">
                <a16:creationId xmlns:a16="http://schemas.microsoft.com/office/drawing/2014/main" id="{49BBC392-15E5-9A15-A989-9BFEBCBCB95D}"/>
              </a:ext>
            </a:extLst>
          </p:cNvPr>
          <p:cNvPicPr>
            <a:picLocks noChangeAspect="1"/>
          </p:cNvPicPr>
          <p:nvPr/>
        </p:nvPicPr>
        <p:blipFill>
          <a:blip r:embed="rId4"/>
          <a:stretch>
            <a:fillRect/>
          </a:stretch>
        </p:blipFill>
        <p:spPr>
          <a:xfrm>
            <a:off x="5610724" y="1661992"/>
            <a:ext cx="6440906" cy="4337753"/>
          </a:xfrm>
          <a:prstGeom prst="rect">
            <a:avLst/>
          </a:prstGeom>
        </p:spPr>
      </p:pic>
      <p:pic>
        <p:nvPicPr>
          <p:cNvPr id="8" name="Picture 7">
            <a:extLst>
              <a:ext uri="{FF2B5EF4-FFF2-40B4-BE49-F238E27FC236}">
                <a16:creationId xmlns:a16="http://schemas.microsoft.com/office/drawing/2014/main" id="{E654F3B4-8008-E2C1-5653-FF9C85441A7C}"/>
              </a:ext>
            </a:extLst>
          </p:cNvPr>
          <p:cNvPicPr>
            <a:picLocks noChangeAspect="1"/>
          </p:cNvPicPr>
          <p:nvPr/>
        </p:nvPicPr>
        <p:blipFill>
          <a:blip r:embed="rId5"/>
          <a:stretch>
            <a:fillRect/>
          </a:stretch>
        </p:blipFill>
        <p:spPr>
          <a:xfrm>
            <a:off x="140370" y="3461084"/>
            <a:ext cx="5354051" cy="3197558"/>
          </a:xfrm>
          <a:prstGeom prst="rect">
            <a:avLst/>
          </a:prstGeom>
        </p:spPr>
      </p:pic>
    </p:spTree>
    <p:extLst>
      <p:ext uri="{BB962C8B-B14F-4D97-AF65-F5344CB8AC3E}">
        <p14:creationId xmlns:p14="http://schemas.microsoft.com/office/powerpoint/2010/main" val="1589344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33C89-9297-6814-0404-952DD3DF6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ADA19A-3797-9F58-1BCA-A3613F2550EA}"/>
              </a:ext>
            </a:extLst>
          </p:cNvPr>
          <p:cNvSpPr>
            <a:spLocks noGrp="1"/>
          </p:cNvSpPr>
          <p:nvPr>
            <p:ph type="title"/>
          </p:nvPr>
        </p:nvSpPr>
        <p:spPr>
          <a:xfrm>
            <a:off x="0" y="1"/>
            <a:ext cx="12192000" cy="104100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sz="4000" b="1" dirty="0">
                <a:solidFill>
                  <a:srgbClr val="FFFFFF"/>
                </a:solidFill>
              </a:rPr>
              <a:t>    Overall Performance Across Benchmark Datasets</a:t>
            </a:r>
            <a:endParaRPr lang="en-US" sz="4000" dirty="0"/>
          </a:p>
        </p:txBody>
      </p:sp>
      <p:sp>
        <p:nvSpPr>
          <p:cNvPr id="5" name="Content Placeholder 2">
            <a:extLst>
              <a:ext uri="{FF2B5EF4-FFF2-40B4-BE49-F238E27FC236}">
                <a16:creationId xmlns:a16="http://schemas.microsoft.com/office/drawing/2014/main" id="{EF1D44F0-0895-5643-E5E5-803E4212A114}"/>
              </a:ext>
            </a:extLst>
          </p:cNvPr>
          <p:cNvSpPr txBox="1">
            <a:spLocks/>
          </p:cNvSpPr>
          <p:nvPr/>
        </p:nvSpPr>
        <p:spPr>
          <a:xfrm>
            <a:off x="970671" y="4819757"/>
            <a:ext cx="8121748" cy="180310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00"/>
              </a:spcBef>
              <a:buNone/>
            </a:pPr>
            <a:r>
              <a:rPr lang="en-US" sz="1600" dirty="0"/>
              <a:t>This is an example of a results table that was obtained for each benchmark dataset per:</a:t>
            </a:r>
          </a:p>
          <a:p>
            <a:pPr>
              <a:spcBef>
                <a:spcPts val="500"/>
              </a:spcBef>
            </a:pPr>
            <a:r>
              <a:rPr lang="en-US" sz="1600" dirty="0"/>
              <a:t>each single-pass run,</a:t>
            </a:r>
          </a:p>
          <a:p>
            <a:pPr>
              <a:spcBef>
                <a:spcPts val="500"/>
              </a:spcBef>
            </a:pPr>
            <a:r>
              <a:rPr lang="en-US" sz="1600" dirty="0"/>
              <a:t>each reflection and multi-agent run, </a:t>
            </a:r>
          </a:p>
          <a:p>
            <a:pPr>
              <a:spcBef>
                <a:spcPts val="500"/>
              </a:spcBef>
            </a:pPr>
            <a:r>
              <a:rPr lang="en-US" sz="1600" dirty="0"/>
              <a:t>each temperature setting run, and</a:t>
            </a:r>
          </a:p>
          <a:p>
            <a:pPr>
              <a:spcBef>
                <a:spcPts val="500"/>
              </a:spcBef>
            </a:pPr>
            <a:r>
              <a:rPr lang="en-US" sz="1600" dirty="0"/>
              <a:t>each top p setting run.</a:t>
            </a:r>
          </a:p>
          <a:p>
            <a:pPr marL="0" indent="0">
              <a:spcBef>
                <a:spcPts val="500"/>
              </a:spcBef>
              <a:buNone/>
            </a:pPr>
            <a:r>
              <a:rPr lang="en-US" sz="1600" dirty="0"/>
              <a:t>Overall, there is a total of </a:t>
            </a:r>
            <a:r>
              <a:rPr lang="en-US" sz="1600" b="1" dirty="0"/>
              <a:t>18 such tables </a:t>
            </a:r>
            <a:r>
              <a:rPr lang="en-US" sz="1600" dirty="0"/>
              <a:t>to analyze.</a:t>
            </a:r>
          </a:p>
          <a:p>
            <a:pPr marL="0" indent="0">
              <a:spcBef>
                <a:spcPts val="500"/>
              </a:spcBef>
              <a:buNone/>
            </a:pPr>
            <a:endParaRPr lang="en-US" sz="1600" dirty="0"/>
          </a:p>
        </p:txBody>
      </p:sp>
      <p:pic>
        <p:nvPicPr>
          <p:cNvPr id="3" name="Picture 2" descr="A graph of numbers and a number&#10;&#10;AI-generated content may be incorrect.">
            <a:extLst>
              <a:ext uri="{FF2B5EF4-FFF2-40B4-BE49-F238E27FC236}">
                <a16:creationId xmlns:a16="http://schemas.microsoft.com/office/drawing/2014/main" id="{FFB1A5A0-7663-BC17-0A47-683BF464FD27}"/>
              </a:ext>
            </a:extLst>
          </p:cNvPr>
          <p:cNvPicPr>
            <a:picLocks noChangeAspect="1"/>
          </p:cNvPicPr>
          <p:nvPr/>
        </p:nvPicPr>
        <p:blipFill>
          <a:blip r:embed="rId3"/>
          <a:stretch>
            <a:fillRect/>
          </a:stretch>
        </p:blipFill>
        <p:spPr>
          <a:xfrm>
            <a:off x="970671" y="1136690"/>
            <a:ext cx="9458179" cy="3518354"/>
          </a:xfrm>
          <a:prstGeom prst="rect">
            <a:avLst/>
          </a:prstGeom>
        </p:spPr>
      </p:pic>
    </p:spTree>
    <p:extLst>
      <p:ext uri="{BB962C8B-B14F-4D97-AF65-F5344CB8AC3E}">
        <p14:creationId xmlns:p14="http://schemas.microsoft.com/office/powerpoint/2010/main" val="18118550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2BBD9-A883-3D7D-37A6-CC08ED1C4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C94F7-EE8E-7548-6322-387EB149B2CE}"/>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Single-Pass Results</a:t>
            </a:r>
            <a:endParaRPr lang="en-US" dirty="0"/>
          </a:p>
        </p:txBody>
      </p:sp>
      <p:pic>
        <p:nvPicPr>
          <p:cNvPr id="6" name="Picture 5" descr="A table of numbers and text&#10;&#10;AI-generated content may be incorrect.">
            <a:extLst>
              <a:ext uri="{FF2B5EF4-FFF2-40B4-BE49-F238E27FC236}">
                <a16:creationId xmlns:a16="http://schemas.microsoft.com/office/drawing/2014/main" id="{1EB52040-D78B-6DFA-4151-EA34A5C48CD8}"/>
              </a:ext>
            </a:extLst>
          </p:cNvPr>
          <p:cNvPicPr>
            <a:picLocks noChangeAspect="1"/>
          </p:cNvPicPr>
          <p:nvPr/>
        </p:nvPicPr>
        <p:blipFill>
          <a:blip r:embed="rId3"/>
          <a:stretch>
            <a:fillRect/>
          </a:stretch>
        </p:blipFill>
        <p:spPr>
          <a:xfrm>
            <a:off x="42202" y="1311129"/>
            <a:ext cx="5969391" cy="3750448"/>
          </a:xfrm>
          <a:prstGeom prst="rect">
            <a:avLst/>
          </a:prstGeom>
        </p:spPr>
      </p:pic>
      <p:pic>
        <p:nvPicPr>
          <p:cNvPr id="8" name="Picture 7" descr="A table of numbers and letters&#10;&#10;AI-generated content may be incorrect.">
            <a:extLst>
              <a:ext uri="{FF2B5EF4-FFF2-40B4-BE49-F238E27FC236}">
                <a16:creationId xmlns:a16="http://schemas.microsoft.com/office/drawing/2014/main" id="{667ED275-1625-9F7B-6EFB-357178C53755}"/>
              </a:ext>
            </a:extLst>
          </p:cNvPr>
          <p:cNvPicPr>
            <a:picLocks noChangeAspect="1"/>
          </p:cNvPicPr>
          <p:nvPr/>
        </p:nvPicPr>
        <p:blipFill>
          <a:blip r:embed="rId4"/>
          <a:stretch>
            <a:fillRect/>
          </a:stretch>
        </p:blipFill>
        <p:spPr>
          <a:xfrm>
            <a:off x="5958704" y="1339265"/>
            <a:ext cx="5991995" cy="3750448"/>
          </a:xfrm>
          <a:prstGeom prst="rect">
            <a:avLst/>
          </a:prstGeom>
        </p:spPr>
      </p:pic>
      <p:sp>
        <p:nvSpPr>
          <p:cNvPr id="9" name="TextBox 8">
            <a:extLst>
              <a:ext uri="{FF2B5EF4-FFF2-40B4-BE49-F238E27FC236}">
                <a16:creationId xmlns:a16="http://schemas.microsoft.com/office/drawing/2014/main" id="{AB9FF0D9-28BE-1183-5BBB-EDF4EBD619F4}"/>
              </a:ext>
            </a:extLst>
          </p:cNvPr>
          <p:cNvSpPr txBox="1"/>
          <p:nvPr/>
        </p:nvSpPr>
        <p:spPr>
          <a:xfrm>
            <a:off x="323557" y="5401994"/>
            <a:ext cx="11394831" cy="584775"/>
          </a:xfrm>
          <a:prstGeom prst="rect">
            <a:avLst/>
          </a:prstGeom>
          <a:noFill/>
        </p:spPr>
        <p:txBody>
          <a:bodyPr wrap="square" rtlCol="0">
            <a:spAutoFit/>
          </a:bodyPr>
          <a:lstStyle/>
          <a:p>
            <a:r>
              <a:rPr lang="en-US" sz="1600" dirty="0"/>
              <a:t>Table 4-4 ranks SLMs by their mean scores across all prompts for each dataset.</a:t>
            </a:r>
          </a:p>
          <a:p>
            <a:r>
              <a:rPr lang="en-US" sz="1600" dirty="0"/>
              <a:t>Table 4-5 does the same using the maximum pass@1 scores.</a:t>
            </a:r>
          </a:p>
        </p:txBody>
      </p:sp>
    </p:spTree>
    <p:extLst>
      <p:ext uri="{BB962C8B-B14F-4D97-AF65-F5344CB8AC3E}">
        <p14:creationId xmlns:p14="http://schemas.microsoft.com/office/powerpoint/2010/main" val="3302972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08D87-BA66-7224-BDEE-A295117D66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8B6D06-5020-2D07-39AD-D343830B1E22}"/>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Reflection Agent Results</a:t>
            </a:r>
            <a:endParaRPr lang="en-US" dirty="0"/>
          </a:p>
        </p:txBody>
      </p:sp>
      <p:pic>
        <p:nvPicPr>
          <p:cNvPr id="3" name="Picture 2">
            <a:extLst>
              <a:ext uri="{FF2B5EF4-FFF2-40B4-BE49-F238E27FC236}">
                <a16:creationId xmlns:a16="http://schemas.microsoft.com/office/drawing/2014/main" id="{2B697962-B400-5E2B-9A86-80BD806500FB}"/>
              </a:ext>
            </a:extLst>
          </p:cNvPr>
          <p:cNvPicPr>
            <a:picLocks noChangeAspect="1"/>
          </p:cNvPicPr>
          <p:nvPr/>
        </p:nvPicPr>
        <p:blipFill>
          <a:blip r:embed="rId3"/>
          <a:stretch>
            <a:fillRect/>
          </a:stretch>
        </p:blipFill>
        <p:spPr>
          <a:xfrm>
            <a:off x="6042706" y="1729258"/>
            <a:ext cx="6055924" cy="3133896"/>
          </a:xfrm>
          <a:prstGeom prst="rect">
            <a:avLst/>
          </a:prstGeom>
        </p:spPr>
      </p:pic>
      <p:pic>
        <p:nvPicPr>
          <p:cNvPr id="7" name="Picture 6">
            <a:extLst>
              <a:ext uri="{FF2B5EF4-FFF2-40B4-BE49-F238E27FC236}">
                <a16:creationId xmlns:a16="http://schemas.microsoft.com/office/drawing/2014/main" id="{1E0E34AF-2064-123E-9D04-E825B81A0903}"/>
              </a:ext>
            </a:extLst>
          </p:cNvPr>
          <p:cNvPicPr>
            <a:picLocks noChangeAspect="1"/>
          </p:cNvPicPr>
          <p:nvPr/>
        </p:nvPicPr>
        <p:blipFill>
          <a:blip r:embed="rId4"/>
          <a:stretch>
            <a:fillRect/>
          </a:stretch>
        </p:blipFill>
        <p:spPr>
          <a:xfrm>
            <a:off x="0" y="1729258"/>
            <a:ext cx="6042706" cy="3133896"/>
          </a:xfrm>
          <a:prstGeom prst="rect">
            <a:avLst/>
          </a:prstGeom>
        </p:spPr>
      </p:pic>
      <p:sp>
        <p:nvSpPr>
          <p:cNvPr id="8" name="TextBox 7">
            <a:extLst>
              <a:ext uri="{FF2B5EF4-FFF2-40B4-BE49-F238E27FC236}">
                <a16:creationId xmlns:a16="http://schemas.microsoft.com/office/drawing/2014/main" id="{1F9B233A-269C-0AAD-9E75-C8D5B43C7655}"/>
              </a:ext>
            </a:extLst>
          </p:cNvPr>
          <p:cNvSpPr txBox="1"/>
          <p:nvPr/>
        </p:nvSpPr>
        <p:spPr>
          <a:xfrm>
            <a:off x="4698260" y="1201696"/>
            <a:ext cx="2474267" cy="400110"/>
          </a:xfrm>
          <a:prstGeom prst="rect">
            <a:avLst/>
          </a:prstGeom>
          <a:noFill/>
        </p:spPr>
        <p:txBody>
          <a:bodyPr wrap="none" rtlCol="0">
            <a:spAutoFit/>
          </a:bodyPr>
          <a:lstStyle/>
          <a:p>
            <a:r>
              <a:rPr lang="en-US" sz="2000" b="1" dirty="0"/>
              <a:t>Normalized Results</a:t>
            </a:r>
          </a:p>
        </p:txBody>
      </p:sp>
    </p:spTree>
    <p:extLst>
      <p:ext uri="{BB962C8B-B14F-4D97-AF65-F5344CB8AC3E}">
        <p14:creationId xmlns:p14="http://schemas.microsoft.com/office/powerpoint/2010/main" val="2858904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BF464-2D9E-CEB3-CADD-DDE33DB7B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649503-7171-4CDE-45DD-3B08C067A215}"/>
              </a:ext>
            </a:extLst>
          </p:cNvPr>
          <p:cNvSpPr>
            <a:spLocks noGrp="1"/>
          </p:cNvSpPr>
          <p:nvPr>
            <p:ph type="title"/>
          </p:nvPr>
        </p:nvSpPr>
        <p:spPr>
          <a:xfrm>
            <a:off x="0" y="1"/>
            <a:ext cx="12192000" cy="1033891"/>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Reflection Agent Results (2)</a:t>
            </a:r>
            <a:endParaRPr lang="en-US" dirty="0"/>
          </a:p>
        </p:txBody>
      </p:sp>
      <p:pic>
        <p:nvPicPr>
          <p:cNvPr id="9" name="Picture 8">
            <a:extLst>
              <a:ext uri="{FF2B5EF4-FFF2-40B4-BE49-F238E27FC236}">
                <a16:creationId xmlns:a16="http://schemas.microsoft.com/office/drawing/2014/main" id="{E13081F4-F2B2-A1D0-B117-77D271D25782}"/>
              </a:ext>
            </a:extLst>
          </p:cNvPr>
          <p:cNvPicPr>
            <a:picLocks noChangeAspect="1"/>
          </p:cNvPicPr>
          <p:nvPr/>
        </p:nvPicPr>
        <p:blipFill>
          <a:blip r:embed="rId3"/>
          <a:stretch>
            <a:fillRect/>
          </a:stretch>
        </p:blipFill>
        <p:spPr>
          <a:xfrm>
            <a:off x="296474" y="1113174"/>
            <a:ext cx="4891600" cy="2839846"/>
          </a:xfrm>
          <a:prstGeom prst="rect">
            <a:avLst/>
          </a:prstGeom>
        </p:spPr>
      </p:pic>
      <p:pic>
        <p:nvPicPr>
          <p:cNvPr id="10" name="Picture 9">
            <a:extLst>
              <a:ext uri="{FF2B5EF4-FFF2-40B4-BE49-F238E27FC236}">
                <a16:creationId xmlns:a16="http://schemas.microsoft.com/office/drawing/2014/main" id="{7F3E8BF6-FB75-2BCC-8F5D-1C38275A8C25}"/>
              </a:ext>
            </a:extLst>
          </p:cNvPr>
          <p:cNvPicPr>
            <a:picLocks noChangeAspect="1"/>
          </p:cNvPicPr>
          <p:nvPr/>
        </p:nvPicPr>
        <p:blipFill>
          <a:blip r:embed="rId4"/>
          <a:stretch>
            <a:fillRect/>
          </a:stretch>
        </p:blipFill>
        <p:spPr>
          <a:xfrm>
            <a:off x="5358853" y="1113174"/>
            <a:ext cx="4938861" cy="2839845"/>
          </a:xfrm>
          <a:prstGeom prst="rect">
            <a:avLst/>
          </a:prstGeom>
        </p:spPr>
      </p:pic>
      <p:pic>
        <p:nvPicPr>
          <p:cNvPr id="13" name="Picture 12">
            <a:extLst>
              <a:ext uri="{FF2B5EF4-FFF2-40B4-BE49-F238E27FC236}">
                <a16:creationId xmlns:a16="http://schemas.microsoft.com/office/drawing/2014/main" id="{4FB7F950-3014-53C0-E1F9-AB6C17841055}"/>
              </a:ext>
            </a:extLst>
          </p:cNvPr>
          <p:cNvPicPr>
            <a:picLocks noChangeAspect="1"/>
          </p:cNvPicPr>
          <p:nvPr/>
        </p:nvPicPr>
        <p:blipFill>
          <a:blip r:embed="rId5"/>
          <a:stretch>
            <a:fillRect/>
          </a:stretch>
        </p:blipFill>
        <p:spPr>
          <a:xfrm>
            <a:off x="404237" y="3964255"/>
            <a:ext cx="4783837" cy="2837472"/>
          </a:xfrm>
          <a:prstGeom prst="rect">
            <a:avLst/>
          </a:prstGeom>
        </p:spPr>
      </p:pic>
      <p:pic>
        <p:nvPicPr>
          <p:cNvPr id="16" name="Picture 15">
            <a:extLst>
              <a:ext uri="{FF2B5EF4-FFF2-40B4-BE49-F238E27FC236}">
                <a16:creationId xmlns:a16="http://schemas.microsoft.com/office/drawing/2014/main" id="{BB18EFF4-A17D-88D9-D503-427C5A7F6CB5}"/>
              </a:ext>
            </a:extLst>
          </p:cNvPr>
          <p:cNvPicPr>
            <a:picLocks noChangeAspect="1"/>
          </p:cNvPicPr>
          <p:nvPr/>
        </p:nvPicPr>
        <p:blipFill>
          <a:blip r:embed="rId6"/>
          <a:stretch>
            <a:fillRect/>
          </a:stretch>
        </p:blipFill>
        <p:spPr>
          <a:xfrm>
            <a:off x="5358853" y="3953019"/>
            <a:ext cx="4938835" cy="2848707"/>
          </a:xfrm>
          <a:prstGeom prst="rect">
            <a:avLst/>
          </a:prstGeom>
        </p:spPr>
      </p:pic>
    </p:spTree>
    <p:extLst>
      <p:ext uri="{BB962C8B-B14F-4D97-AF65-F5344CB8AC3E}">
        <p14:creationId xmlns:p14="http://schemas.microsoft.com/office/powerpoint/2010/main" val="3351299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4F4AE-3805-473A-7C02-FE64FC7595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80632-9269-7E07-F2F6-AF5EE8108766}"/>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Multi-Agent Collaboration Results</a:t>
            </a:r>
            <a:endParaRPr lang="en-US" dirty="0"/>
          </a:p>
        </p:txBody>
      </p:sp>
      <p:pic>
        <p:nvPicPr>
          <p:cNvPr id="3" name="Picture 2">
            <a:extLst>
              <a:ext uri="{FF2B5EF4-FFF2-40B4-BE49-F238E27FC236}">
                <a16:creationId xmlns:a16="http://schemas.microsoft.com/office/drawing/2014/main" id="{1427F250-201C-3EB4-BAC2-DC2CB4A1AFEE}"/>
              </a:ext>
            </a:extLst>
          </p:cNvPr>
          <p:cNvPicPr>
            <a:picLocks noChangeAspect="1"/>
          </p:cNvPicPr>
          <p:nvPr/>
        </p:nvPicPr>
        <p:blipFill>
          <a:blip r:embed="rId3"/>
          <a:stretch>
            <a:fillRect/>
          </a:stretch>
        </p:blipFill>
        <p:spPr>
          <a:xfrm>
            <a:off x="5993957" y="1628238"/>
            <a:ext cx="6037437" cy="3094074"/>
          </a:xfrm>
          <a:prstGeom prst="rect">
            <a:avLst/>
          </a:prstGeom>
        </p:spPr>
      </p:pic>
      <p:pic>
        <p:nvPicPr>
          <p:cNvPr id="7" name="Picture 6">
            <a:extLst>
              <a:ext uri="{FF2B5EF4-FFF2-40B4-BE49-F238E27FC236}">
                <a16:creationId xmlns:a16="http://schemas.microsoft.com/office/drawing/2014/main" id="{8EE0C13E-F830-DAC0-78DB-C3A0718CA62A}"/>
              </a:ext>
            </a:extLst>
          </p:cNvPr>
          <p:cNvPicPr>
            <a:picLocks noChangeAspect="1"/>
          </p:cNvPicPr>
          <p:nvPr/>
        </p:nvPicPr>
        <p:blipFill>
          <a:blip r:embed="rId4"/>
          <a:stretch>
            <a:fillRect/>
          </a:stretch>
        </p:blipFill>
        <p:spPr>
          <a:xfrm>
            <a:off x="0" y="1628238"/>
            <a:ext cx="5935394" cy="3094074"/>
          </a:xfrm>
          <a:prstGeom prst="rect">
            <a:avLst/>
          </a:prstGeom>
        </p:spPr>
      </p:pic>
      <p:sp>
        <p:nvSpPr>
          <p:cNvPr id="9" name="TextBox 8">
            <a:extLst>
              <a:ext uri="{FF2B5EF4-FFF2-40B4-BE49-F238E27FC236}">
                <a16:creationId xmlns:a16="http://schemas.microsoft.com/office/drawing/2014/main" id="{625D41ED-1ABA-369E-E5A1-CE5373FCA3C4}"/>
              </a:ext>
            </a:extLst>
          </p:cNvPr>
          <p:cNvSpPr txBox="1"/>
          <p:nvPr/>
        </p:nvSpPr>
        <p:spPr>
          <a:xfrm>
            <a:off x="4698260" y="1201696"/>
            <a:ext cx="2474267" cy="400110"/>
          </a:xfrm>
          <a:prstGeom prst="rect">
            <a:avLst/>
          </a:prstGeom>
          <a:noFill/>
        </p:spPr>
        <p:txBody>
          <a:bodyPr wrap="none" rtlCol="0">
            <a:spAutoFit/>
          </a:bodyPr>
          <a:lstStyle/>
          <a:p>
            <a:r>
              <a:rPr lang="en-US" sz="2000" b="1" dirty="0"/>
              <a:t>Normalized Results</a:t>
            </a:r>
          </a:p>
        </p:txBody>
      </p:sp>
      <p:sp>
        <p:nvSpPr>
          <p:cNvPr id="10" name="TextBox 9">
            <a:extLst>
              <a:ext uri="{FF2B5EF4-FFF2-40B4-BE49-F238E27FC236}">
                <a16:creationId xmlns:a16="http://schemas.microsoft.com/office/drawing/2014/main" id="{C093884C-5302-25C4-D701-AC3EBD92EC1D}"/>
              </a:ext>
            </a:extLst>
          </p:cNvPr>
          <p:cNvSpPr txBox="1"/>
          <p:nvPr/>
        </p:nvSpPr>
        <p:spPr>
          <a:xfrm>
            <a:off x="3889919" y="4732850"/>
            <a:ext cx="4208075" cy="400110"/>
          </a:xfrm>
          <a:prstGeom prst="rect">
            <a:avLst/>
          </a:prstGeom>
          <a:noFill/>
        </p:spPr>
        <p:txBody>
          <a:bodyPr wrap="none" rtlCol="0">
            <a:spAutoFit/>
          </a:bodyPr>
          <a:lstStyle/>
          <a:p>
            <a:r>
              <a:rPr lang="en-US" sz="2000" b="1" dirty="0"/>
              <a:t>Max. Results Before Normalization</a:t>
            </a:r>
          </a:p>
        </p:txBody>
      </p:sp>
      <p:pic>
        <p:nvPicPr>
          <p:cNvPr id="11" name="Picture 10">
            <a:extLst>
              <a:ext uri="{FF2B5EF4-FFF2-40B4-BE49-F238E27FC236}">
                <a16:creationId xmlns:a16="http://schemas.microsoft.com/office/drawing/2014/main" id="{DA355829-B76D-0AFB-34ED-EA3791EEAD41}"/>
              </a:ext>
            </a:extLst>
          </p:cNvPr>
          <p:cNvPicPr>
            <a:picLocks noChangeAspect="1"/>
          </p:cNvPicPr>
          <p:nvPr/>
        </p:nvPicPr>
        <p:blipFill>
          <a:blip r:embed="rId5"/>
          <a:stretch>
            <a:fillRect/>
          </a:stretch>
        </p:blipFill>
        <p:spPr>
          <a:xfrm>
            <a:off x="3541443" y="5132960"/>
            <a:ext cx="4787900" cy="1676400"/>
          </a:xfrm>
          <a:prstGeom prst="rect">
            <a:avLst/>
          </a:prstGeom>
        </p:spPr>
      </p:pic>
    </p:spTree>
    <p:extLst>
      <p:ext uri="{BB962C8B-B14F-4D97-AF65-F5344CB8AC3E}">
        <p14:creationId xmlns:p14="http://schemas.microsoft.com/office/powerpoint/2010/main" val="17909482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527A2-870C-882D-AA04-CF00D7C153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D79038-1F66-0375-F050-977A3648D1E1}"/>
              </a:ext>
            </a:extLst>
          </p:cNvPr>
          <p:cNvSpPr>
            <a:spLocks noGrp="1"/>
          </p:cNvSpPr>
          <p:nvPr>
            <p:ph type="title"/>
          </p:nvPr>
        </p:nvSpPr>
        <p:spPr>
          <a:xfrm>
            <a:off x="0" y="1"/>
            <a:ext cx="12192000" cy="872196"/>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sz="3600" b="1" dirty="0">
                <a:solidFill>
                  <a:srgbClr val="FFFFFF"/>
                </a:solidFill>
              </a:rPr>
              <a:t>    SLM: Inference Parameter Optimization and Fine‑Tuning</a:t>
            </a:r>
            <a:endParaRPr lang="en-US" sz="3600" dirty="0"/>
          </a:p>
        </p:txBody>
      </p:sp>
      <p:sp>
        <p:nvSpPr>
          <p:cNvPr id="5" name="Content Placeholder 2">
            <a:extLst>
              <a:ext uri="{FF2B5EF4-FFF2-40B4-BE49-F238E27FC236}">
                <a16:creationId xmlns:a16="http://schemas.microsoft.com/office/drawing/2014/main" id="{D9E3E3F9-0C20-4260-E59C-D1AEA2D6E5C0}"/>
              </a:ext>
            </a:extLst>
          </p:cNvPr>
          <p:cNvSpPr txBox="1">
            <a:spLocks/>
          </p:cNvSpPr>
          <p:nvPr/>
        </p:nvSpPr>
        <p:spPr>
          <a:xfrm>
            <a:off x="8556598" y="5753931"/>
            <a:ext cx="2052561" cy="377838"/>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800" b="1" dirty="0"/>
              <a:t>SLM Fine-Tuning</a:t>
            </a:r>
          </a:p>
        </p:txBody>
      </p:sp>
      <p:pic>
        <p:nvPicPr>
          <p:cNvPr id="3" name="Picture 2">
            <a:extLst>
              <a:ext uri="{FF2B5EF4-FFF2-40B4-BE49-F238E27FC236}">
                <a16:creationId xmlns:a16="http://schemas.microsoft.com/office/drawing/2014/main" id="{D5CEBBF6-6B08-B651-1483-DA9692BA9F52}"/>
              </a:ext>
            </a:extLst>
          </p:cNvPr>
          <p:cNvPicPr>
            <a:picLocks noChangeAspect="1"/>
          </p:cNvPicPr>
          <p:nvPr/>
        </p:nvPicPr>
        <p:blipFill>
          <a:blip r:embed="rId3"/>
          <a:stretch>
            <a:fillRect/>
          </a:stretch>
        </p:blipFill>
        <p:spPr>
          <a:xfrm>
            <a:off x="216727" y="5309102"/>
            <a:ext cx="7945210" cy="1408175"/>
          </a:xfrm>
          <a:prstGeom prst="rect">
            <a:avLst/>
          </a:prstGeom>
        </p:spPr>
      </p:pic>
      <p:sp>
        <p:nvSpPr>
          <p:cNvPr id="4" name="Content Placeholder 2">
            <a:extLst>
              <a:ext uri="{FF2B5EF4-FFF2-40B4-BE49-F238E27FC236}">
                <a16:creationId xmlns:a16="http://schemas.microsoft.com/office/drawing/2014/main" id="{74EFFC6D-C248-B2C7-CD11-FFA0D9896C5B}"/>
              </a:ext>
            </a:extLst>
          </p:cNvPr>
          <p:cNvSpPr txBox="1">
            <a:spLocks/>
          </p:cNvSpPr>
          <p:nvPr/>
        </p:nvSpPr>
        <p:spPr>
          <a:xfrm>
            <a:off x="7977477" y="2084088"/>
            <a:ext cx="2631682" cy="377838"/>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800" b="1" dirty="0"/>
              <a:t>Temperature and Top p</a:t>
            </a:r>
          </a:p>
        </p:txBody>
      </p:sp>
      <p:pic>
        <p:nvPicPr>
          <p:cNvPr id="6" name="Picture 5" descr="A graph showing the difference between temperature and improvement&#10;&#10;AI-generated content may be incorrect.">
            <a:extLst>
              <a:ext uri="{FF2B5EF4-FFF2-40B4-BE49-F238E27FC236}">
                <a16:creationId xmlns:a16="http://schemas.microsoft.com/office/drawing/2014/main" id="{5E9F85AF-CC7E-C772-5622-6AF32EDD085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2541" y="861646"/>
            <a:ext cx="6597748" cy="4377117"/>
          </a:xfrm>
          <a:prstGeom prst="rect">
            <a:avLst/>
          </a:prstGeom>
          <a:noFill/>
          <a:ln>
            <a:noFill/>
          </a:ln>
        </p:spPr>
      </p:pic>
      <p:sp>
        <p:nvSpPr>
          <p:cNvPr id="8" name="TextBox 7">
            <a:extLst>
              <a:ext uri="{FF2B5EF4-FFF2-40B4-BE49-F238E27FC236}">
                <a16:creationId xmlns:a16="http://schemas.microsoft.com/office/drawing/2014/main" id="{F91E9850-D9C9-33FA-343B-879259BA3C76}"/>
              </a:ext>
            </a:extLst>
          </p:cNvPr>
          <p:cNvSpPr txBox="1"/>
          <p:nvPr/>
        </p:nvSpPr>
        <p:spPr>
          <a:xfrm>
            <a:off x="6710289" y="2728288"/>
            <a:ext cx="5336345" cy="584775"/>
          </a:xfrm>
          <a:prstGeom prst="rect">
            <a:avLst/>
          </a:prstGeom>
          <a:noFill/>
        </p:spPr>
        <p:txBody>
          <a:bodyPr wrap="square" rtlCol="0">
            <a:spAutoFit/>
          </a:bodyPr>
          <a:lstStyle/>
          <a:p>
            <a:pPr algn="just"/>
            <a:r>
              <a:rPr lang="en-US" sz="1600" dirty="0"/>
              <a:t>Several values for top-p (p∈{1.0, 0.9, 0.8}) were attempted without any improvements in the pass@1 scores</a:t>
            </a:r>
          </a:p>
        </p:txBody>
      </p:sp>
    </p:spTree>
    <p:extLst>
      <p:ext uri="{BB962C8B-B14F-4D97-AF65-F5344CB8AC3E}">
        <p14:creationId xmlns:p14="http://schemas.microsoft.com/office/powerpoint/2010/main" val="3250403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95DD0-69BA-8285-7123-E3953C906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69E14-D5C3-44B8-A4B2-F3495D949F0E}"/>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Error Analysis</a:t>
            </a:r>
            <a:endParaRPr lang="en-US" dirty="0"/>
          </a:p>
        </p:txBody>
      </p:sp>
      <p:pic>
        <p:nvPicPr>
          <p:cNvPr id="3" name="Picture 2" descr="A screenshot of a graph&#10;&#10;AI-generated content may be incorrect.">
            <a:extLst>
              <a:ext uri="{FF2B5EF4-FFF2-40B4-BE49-F238E27FC236}">
                <a16:creationId xmlns:a16="http://schemas.microsoft.com/office/drawing/2014/main" id="{75AD7CDF-F108-30E9-DE8F-30673D76D12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32781" y="1317795"/>
            <a:ext cx="8126437" cy="5379062"/>
          </a:xfrm>
          <a:prstGeom prst="rect">
            <a:avLst/>
          </a:prstGeom>
          <a:noFill/>
          <a:ln>
            <a:noFill/>
          </a:ln>
        </p:spPr>
      </p:pic>
    </p:spTree>
    <p:extLst>
      <p:ext uri="{BB962C8B-B14F-4D97-AF65-F5344CB8AC3E}">
        <p14:creationId xmlns:p14="http://schemas.microsoft.com/office/powerpoint/2010/main" val="683140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CA045-C3CE-50AA-B1F0-25C60E0AF3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424F77-FBE5-174C-A807-516ED976E27B}"/>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Latency and Cost Analysis</a:t>
            </a:r>
            <a:endParaRPr lang="en-US" dirty="0"/>
          </a:p>
        </p:txBody>
      </p:sp>
      <p:pic>
        <p:nvPicPr>
          <p:cNvPr id="3" name="Picture 2">
            <a:extLst>
              <a:ext uri="{FF2B5EF4-FFF2-40B4-BE49-F238E27FC236}">
                <a16:creationId xmlns:a16="http://schemas.microsoft.com/office/drawing/2014/main" id="{4680D208-1395-A8A1-3DEF-622569ED370F}"/>
              </a:ext>
            </a:extLst>
          </p:cNvPr>
          <p:cNvPicPr>
            <a:picLocks noChangeAspect="1"/>
          </p:cNvPicPr>
          <p:nvPr/>
        </p:nvPicPr>
        <p:blipFill>
          <a:blip r:embed="rId3"/>
          <a:stretch>
            <a:fillRect/>
          </a:stretch>
        </p:blipFill>
        <p:spPr>
          <a:xfrm>
            <a:off x="1060215" y="1222823"/>
            <a:ext cx="3420588" cy="1731672"/>
          </a:xfrm>
          <a:prstGeom prst="rect">
            <a:avLst/>
          </a:prstGeom>
        </p:spPr>
      </p:pic>
      <p:pic>
        <p:nvPicPr>
          <p:cNvPr id="4" name="Picture 3">
            <a:extLst>
              <a:ext uri="{FF2B5EF4-FFF2-40B4-BE49-F238E27FC236}">
                <a16:creationId xmlns:a16="http://schemas.microsoft.com/office/drawing/2014/main" id="{3E296BD3-3559-C612-8298-5D50AFE7436E}"/>
              </a:ext>
            </a:extLst>
          </p:cNvPr>
          <p:cNvPicPr>
            <a:picLocks noChangeAspect="1"/>
          </p:cNvPicPr>
          <p:nvPr/>
        </p:nvPicPr>
        <p:blipFill>
          <a:blip r:embed="rId4"/>
          <a:stretch>
            <a:fillRect/>
          </a:stretch>
        </p:blipFill>
        <p:spPr>
          <a:xfrm>
            <a:off x="5813247" y="1180619"/>
            <a:ext cx="5708194" cy="5574825"/>
          </a:xfrm>
          <a:prstGeom prst="rect">
            <a:avLst/>
          </a:prstGeom>
        </p:spPr>
      </p:pic>
      <p:pic>
        <p:nvPicPr>
          <p:cNvPr id="6" name="Picture 5">
            <a:extLst>
              <a:ext uri="{FF2B5EF4-FFF2-40B4-BE49-F238E27FC236}">
                <a16:creationId xmlns:a16="http://schemas.microsoft.com/office/drawing/2014/main" id="{98948E0C-F7B1-5258-4932-9C5C030C5626}"/>
              </a:ext>
            </a:extLst>
          </p:cNvPr>
          <p:cNvPicPr>
            <a:picLocks noChangeAspect="1"/>
          </p:cNvPicPr>
          <p:nvPr/>
        </p:nvPicPr>
        <p:blipFill>
          <a:blip r:embed="rId5"/>
          <a:stretch>
            <a:fillRect/>
          </a:stretch>
        </p:blipFill>
        <p:spPr>
          <a:xfrm>
            <a:off x="505635" y="2926082"/>
            <a:ext cx="4529748" cy="2302893"/>
          </a:xfrm>
          <a:prstGeom prst="rect">
            <a:avLst/>
          </a:prstGeom>
        </p:spPr>
      </p:pic>
      <p:pic>
        <p:nvPicPr>
          <p:cNvPr id="7" name="Picture 6">
            <a:extLst>
              <a:ext uri="{FF2B5EF4-FFF2-40B4-BE49-F238E27FC236}">
                <a16:creationId xmlns:a16="http://schemas.microsoft.com/office/drawing/2014/main" id="{F2590D07-07B5-059C-2199-7CFAAFE677C8}"/>
              </a:ext>
            </a:extLst>
          </p:cNvPr>
          <p:cNvPicPr>
            <a:picLocks noChangeAspect="1"/>
          </p:cNvPicPr>
          <p:nvPr/>
        </p:nvPicPr>
        <p:blipFill>
          <a:blip r:embed="rId6"/>
          <a:stretch>
            <a:fillRect/>
          </a:stretch>
        </p:blipFill>
        <p:spPr>
          <a:xfrm>
            <a:off x="227635" y="5275385"/>
            <a:ext cx="5085749" cy="1498207"/>
          </a:xfrm>
          <a:prstGeom prst="rect">
            <a:avLst/>
          </a:prstGeom>
        </p:spPr>
      </p:pic>
    </p:spTree>
    <p:extLst>
      <p:ext uri="{BB962C8B-B14F-4D97-AF65-F5344CB8AC3E}">
        <p14:creationId xmlns:p14="http://schemas.microsoft.com/office/powerpoint/2010/main" val="12453746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48440-0D94-B5FC-35EC-950283FA3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8F2014-6FA8-BC61-26D4-A63BE8831A75}"/>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Efficiency Gains from SLMs</a:t>
            </a:r>
            <a:endParaRPr lang="en-US" dirty="0"/>
          </a:p>
        </p:txBody>
      </p:sp>
      <p:sp>
        <p:nvSpPr>
          <p:cNvPr id="5" name="Content Placeholder 2">
            <a:extLst>
              <a:ext uri="{FF2B5EF4-FFF2-40B4-BE49-F238E27FC236}">
                <a16:creationId xmlns:a16="http://schemas.microsoft.com/office/drawing/2014/main" id="{2F7662DA-AAA8-1CF1-DAB2-E5C19EA41E0F}"/>
              </a:ext>
            </a:extLst>
          </p:cNvPr>
          <p:cNvSpPr txBox="1">
            <a:spLocks/>
          </p:cNvSpPr>
          <p:nvPr/>
        </p:nvSpPr>
        <p:spPr>
          <a:xfrm>
            <a:off x="206439" y="1296803"/>
            <a:ext cx="6424463" cy="2132197"/>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600" b="1" dirty="0"/>
              <a:t>Mistral API is roughly 92% cheaper than the OpenAI o3 model</a:t>
            </a:r>
          </a:p>
          <a:p>
            <a:pPr algn="just">
              <a:buFont typeface="Courier New" panose="02070309020205020404" pitchFamily="49" charset="0"/>
              <a:buChar char="o"/>
            </a:pPr>
            <a:r>
              <a:rPr lang="en-US" sz="1600" dirty="0"/>
              <a:t>Mistral AI API charges between $0.01 and $0.15 per experiment (Table 2-12), with a midpoint of $0.08.</a:t>
            </a:r>
          </a:p>
          <a:p>
            <a:pPr algn="just">
              <a:buFont typeface="Courier New" panose="02070309020205020404" pitchFamily="49" charset="0"/>
              <a:buChar char="o"/>
            </a:pPr>
            <a:r>
              <a:rPr lang="en-US" sz="1600" dirty="0"/>
              <a:t>Based on OpenAI o3 pricing [OpenAI 2, 2025] - $2 per 1 M input tokens and $8 per 1 M output tokens - 331 code completions cost: 106,743*2 + 96,602*8)/1M = $0.99.</a:t>
            </a:r>
          </a:p>
          <a:p>
            <a:pPr algn="just">
              <a:buFont typeface="Courier New" panose="02070309020205020404" pitchFamily="49" charset="0"/>
              <a:buChar char="o"/>
            </a:pPr>
            <a:r>
              <a:rPr lang="en-US" sz="1600" dirty="0"/>
              <a:t>With $0.08 vs. $0.99 per run, the Mistral API is 92% cheaper.</a:t>
            </a:r>
          </a:p>
        </p:txBody>
      </p:sp>
      <p:pic>
        <p:nvPicPr>
          <p:cNvPr id="9" name="Picture 8" descr="A table of numbers and text&#10;&#10;AI-generated content may be incorrect.">
            <a:extLst>
              <a:ext uri="{FF2B5EF4-FFF2-40B4-BE49-F238E27FC236}">
                <a16:creationId xmlns:a16="http://schemas.microsoft.com/office/drawing/2014/main" id="{C75CAAE6-CF4D-D9C3-DA93-85E0DDBE2701}"/>
              </a:ext>
            </a:extLst>
          </p:cNvPr>
          <p:cNvPicPr>
            <a:picLocks noChangeAspect="1"/>
          </p:cNvPicPr>
          <p:nvPr/>
        </p:nvPicPr>
        <p:blipFill>
          <a:blip r:embed="rId3"/>
          <a:stretch>
            <a:fillRect/>
          </a:stretch>
        </p:blipFill>
        <p:spPr>
          <a:xfrm>
            <a:off x="6702340" y="1296803"/>
            <a:ext cx="5407109" cy="1732147"/>
          </a:xfrm>
          <a:prstGeom prst="rect">
            <a:avLst/>
          </a:prstGeom>
        </p:spPr>
      </p:pic>
      <p:sp>
        <p:nvSpPr>
          <p:cNvPr id="10" name="TextBox 9">
            <a:extLst>
              <a:ext uri="{FF2B5EF4-FFF2-40B4-BE49-F238E27FC236}">
                <a16:creationId xmlns:a16="http://schemas.microsoft.com/office/drawing/2014/main" id="{DB194891-543A-25E4-A683-2BF22D257E8B}"/>
              </a:ext>
            </a:extLst>
          </p:cNvPr>
          <p:cNvSpPr txBox="1"/>
          <p:nvPr/>
        </p:nvSpPr>
        <p:spPr>
          <a:xfrm>
            <a:off x="277877" y="3314698"/>
            <a:ext cx="11480800" cy="3046988"/>
          </a:xfrm>
          <a:prstGeom prst="rect">
            <a:avLst/>
          </a:prstGeom>
          <a:noFill/>
        </p:spPr>
        <p:txBody>
          <a:bodyPr wrap="square" rtlCol="0">
            <a:spAutoFit/>
          </a:bodyPr>
          <a:lstStyle/>
          <a:p>
            <a:pPr algn="just"/>
            <a:r>
              <a:rPr lang="en-US" sz="1600" b="1" dirty="0"/>
              <a:t>Infrastructure Cost Reduction</a:t>
            </a:r>
          </a:p>
          <a:p>
            <a:pPr marL="285750" indent="-285750" algn="just">
              <a:buFont typeface="Courier New" panose="02070309020205020404" pitchFamily="49" charset="0"/>
              <a:buChar char="o"/>
            </a:pPr>
            <a:r>
              <a:rPr lang="en-US" sz="1600" dirty="0"/>
              <a:t>On-demand AWS instance g4dn.12xlarge (4 GPUs) costs $3.90/hour vs. $0.75/hour for a single-GPU instance g4dn.2xlarge. Expenses are reduced by roughly 84%.</a:t>
            </a:r>
          </a:p>
          <a:p>
            <a:pPr algn="just"/>
            <a:endParaRPr lang="en-US" sz="1600" dirty="0"/>
          </a:p>
          <a:p>
            <a:pPr algn="just"/>
            <a:r>
              <a:rPr lang="en-US" sz="1600" b="1" dirty="0"/>
              <a:t>Latency</a:t>
            </a:r>
          </a:p>
          <a:p>
            <a:pPr marL="285750" indent="-285750" algn="just">
              <a:buFont typeface="Courier New" panose="02070309020205020404" pitchFamily="49" charset="0"/>
              <a:buChar char="o"/>
            </a:pPr>
            <a:r>
              <a:rPr lang="en-US" sz="1600" dirty="0"/>
              <a:t>Average latency of GPT4 - 18 </a:t>
            </a:r>
            <a:r>
              <a:rPr lang="en-US" sz="1600" dirty="0" err="1"/>
              <a:t>ms</a:t>
            </a:r>
            <a:r>
              <a:rPr lang="en-US" sz="1600" dirty="0"/>
              <a:t> per generated token =&gt; each GPT-4 inference takes about 5.25 seconds vs. 3.5s by Mistral 8B which makes it </a:t>
            </a:r>
            <a:r>
              <a:rPr lang="en-US" sz="1600" b="1" dirty="0"/>
              <a:t>33%</a:t>
            </a:r>
            <a:r>
              <a:rPr lang="en-US" sz="1600" dirty="0"/>
              <a:t> faster than GPT-4.</a:t>
            </a:r>
          </a:p>
          <a:p>
            <a:pPr algn="just"/>
            <a:endParaRPr lang="en-US" sz="1600" dirty="0"/>
          </a:p>
          <a:p>
            <a:pPr algn="just"/>
            <a:r>
              <a:rPr lang="en-US" sz="1600" b="1" dirty="0"/>
              <a:t>Other Improvements</a:t>
            </a:r>
          </a:p>
          <a:p>
            <a:pPr marL="285750" indent="-285750" algn="just">
              <a:buFont typeface="Courier New" panose="02070309020205020404" pitchFamily="49" charset="0"/>
              <a:buChar char="o"/>
            </a:pPr>
            <a:r>
              <a:rPr lang="en-US" sz="1600" dirty="0"/>
              <a:t>Reflection agentic workflow improves </a:t>
            </a:r>
            <a:r>
              <a:rPr lang="en-US" sz="1600" u="sng" dirty="0"/>
              <a:t>pass rates</a:t>
            </a:r>
            <a:r>
              <a:rPr lang="en-US" sz="1600" dirty="0"/>
              <a:t> by an average of 6% while fine-tuning an SLM can improve </a:t>
            </a:r>
            <a:r>
              <a:rPr lang="en-US" sz="1600" u="sng" dirty="0"/>
              <a:t>pass rates </a:t>
            </a:r>
            <a:r>
              <a:rPr lang="en-US" sz="1600" dirty="0"/>
              <a:t>by additional 5%. All these performance gains lead to a </a:t>
            </a:r>
            <a:r>
              <a:rPr lang="en-US" sz="1600" u="sng" dirty="0"/>
              <a:t>better quality of generated code </a:t>
            </a:r>
            <a:r>
              <a:rPr lang="en-US" sz="1600" dirty="0"/>
              <a:t>and, therefore, to a </a:t>
            </a:r>
            <a:r>
              <a:rPr lang="en-US" sz="1600" u="sng" dirty="0"/>
              <a:t>shorter time the developers need to debug</a:t>
            </a:r>
            <a:r>
              <a:rPr lang="en-US" sz="1600" dirty="0"/>
              <a:t> the generated code. This translates into additional savings</a:t>
            </a:r>
          </a:p>
        </p:txBody>
      </p:sp>
    </p:spTree>
    <p:extLst>
      <p:ext uri="{BB962C8B-B14F-4D97-AF65-F5344CB8AC3E}">
        <p14:creationId xmlns:p14="http://schemas.microsoft.com/office/powerpoint/2010/main" val="1115494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64F76-E5AC-1D76-9AEE-3E76BE1590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68C5E-4E5B-D89A-8DD6-9E1F238E1D0D}"/>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sz="3200" b="1" dirty="0">
                <a:solidFill>
                  <a:srgbClr val="FFFFFF"/>
                </a:solidFill>
              </a:rPr>
              <a:t>    Substantiating the Thesis Statement and Validating Hypotheses</a:t>
            </a:r>
            <a:endParaRPr lang="en-US" sz="3200" dirty="0"/>
          </a:p>
        </p:txBody>
      </p:sp>
      <p:sp>
        <p:nvSpPr>
          <p:cNvPr id="5" name="Content Placeholder 2">
            <a:extLst>
              <a:ext uri="{FF2B5EF4-FFF2-40B4-BE49-F238E27FC236}">
                <a16:creationId xmlns:a16="http://schemas.microsoft.com/office/drawing/2014/main" id="{9641DE1A-F201-728F-FCCC-464B612C4C9D}"/>
              </a:ext>
            </a:extLst>
          </p:cNvPr>
          <p:cNvSpPr txBox="1">
            <a:spLocks/>
          </p:cNvSpPr>
          <p:nvPr/>
        </p:nvSpPr>
        <p:spPr>
          <a:xfrm>
            <a:off x="454448" y="1691170"/>
            <a:ext cx="11283104" cy="4202297"/>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800" b="1" dirty="0">
                <a:solidFill>
                  <a:schemeClr val="accent4">
                    <a:lumMod val="75000"/>
                  </a:schemeClr>
                </a:solidFill>
              </a:rPr>
              <a:t>Substantiating the Thesis Statement</a:t>
            </a:r>
          </a:p>
          <a:p>
            <a:pPr algn="just"/>
            <a:r>
              <a:rPr lang="en-US" sz="1600" dirty="0"/>
              <a:t>My Thesis Statement stated that SLM-based agents deployed in resource-constrained environments for automated code generation will ensure lower costs and sensitive data protection, speeding up development cycle </a:t>
            </a:r>
          </a:p>
          <a:p>
            <a:pPr algn="just"/>
            <a:r>
              <a:rPr lang="en-US" sz="1600" dirty="0"/>
              <a:t>The results of this Praxis have clearly demonstrated that </a:t>
            </a:r>
            <a:r>
              <a:rPr lang="en-US" sz="1600" b="1" dirty="0"/>
              <a:t>SLMs ensure lower costs</a:t>
            </a:r>
            <a:r>
              <a:rPr lang="en-US" sz="1600" dirty="0"/>
              <a:t> as compared to the use of LLMs. </a:t>
            </a:r>
            <a:r>
              <a:rPr lang="en-US" sz="1600" b="1" dirty="0"/>
              <a:t>SLMs also provide sensitive data protection </a:t>
            </a:r>
            <a:r>
              <a:rPr lang="en-US" sz="1600" dirty="0"/>
              <a:t>through deployment in private cloud or in a local resource-constrained environment.</a:t>
            </a:r>
          </a:p>
          <a:p>
            <a:pPr marL="0" indent="0" algn="just">
              <a:buNone/>
            </a:pPr>
            <a:r>
              <a:rPr lang="en-US" sz="1800" b="1" dirty="0">
                <a:solidFill>
                  <a:schemeClr val="accent4">
                    <a:lumMod val="75000"/>
                  </a:schemeClr>
                </a:solidFill>
              </a:rPr>
              <a:t>Hypotheses Validation</a:t>
            </a:r>
          </a:p>
          <a:p>
            <a:pPr algn="just"/>
            <a:r>
              <a:rPr lang="en-US" sz="1600" b="1" dirty="0"/>
              <a:t>Hypothesis 1</a:t>
            </a:r>
            <a:r>
              <a:rPr lang="en-US" sz="1600" dirty="0"/>
              <a:t> states that agents will lead to higher test-case pass rates, as measured across multiple benchmarks. The results described in Section 4.6 of this research showed that </a:t>
            </a:r>
            <a:r>
              <a:rPr lang="en-US" sz="1600" u="sng" dirty="0"/>
              <a:t>agentic workflows resulted in higher model performance</a:t>
            </a:r>
            <a:r>
              <a:rPr lang="en-US" sz="1600" dirty="0"/>
              <a:t> vs. single-pass SLMs.</a:t>
            </a:r>
          </a:p>
          <a:p>
            <a:pPr algn="just"/>
            <a:r>
              <a:rPr lang="en-US" sz="1600" b="1" dirty="0"/>
              <a:t>Hypothesis 2</a:t>
            </a:r>
            <a:r>
              <a:rPr lang="en-US" sz="1600" dirty="0"/>
              <a:t> asserts that adjusting SLM parameters, such as temperature and top-p, will improve code generation quality. Section 4.8 proved this hypothesis for temperature as </a:t>
            </a:r>
            <a:r>
              <a:rPr lang="en-US" sz="1600" u="sng" dirty="0"/>
              <a:t>reducing it to 0.1 yielded measurable improvements</a:t>
            </a:r>
            <a:r>
              <a:rPr lang="en-US" sz="1600" dirty="0"/>
              <a:t> in the code generation task, however there was not enough evidence to consider it proved for top-p.</a:t>
            </a:r>
          </a:p>
          <a:p>
            <a:pPr algn="just"/>
            <a:r>
              <a:rPr lang="en-US" sz="1600" dirty="0"/>
              <a:t>Finally, </a:t>
            </a:r>
            <a:r>
              <a:rPr lang="en-US" sz="1600" b="1" dirty="0"/>
              <a:t>Hypothesis 3</a:t>
            </a:r>
            <a:r>
              <a:rPr lang="en-US" sz="1600" dirty="0"/>
              <a:t> says that fine-tuning SLMs on domain-specific data will increase test-case pass rates across multiple benchmarks. Section 4.9 of this research proved this statement. </a:t>
            </a:r>
          </a:p>
        </p:txBody>
      </p:sp>
    </p:spTree>
    <p:extLst>
      <p:ext uri="{BB962C8B-B14F-4D97-AF65-F5344CB8AC3E}">
        <p14:creationId xmlns:p14="http://schemas.microsoft.com/office/powerpoint/2010/main" val="4277689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BEF6B-CDF1-A62E-6987-5B444967C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95279D-9503-5537-1F59-364F5E9FE6E9}"/>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Key Findings</a:t>
            </a:r>
            <a:endParaRPr lang="en-US" dirty="0"/>
          </a:p>
        </p:txBody>
      </p:sp>
      <p:sp>
        <p:nvSpPr>
          <p:cNvPr id="5" name="Content Placeholder 2">
            <a:extLst>
              <a:ext uri="{FF2B5EF4-FFF2-40B4-BE49-F238E27FC236}">
                <a16:creationId xmlns:a16="http://schemas.microsoft.com/office/drawing/2014/main" id="{F15D3C1E-A7F6-CDD2-0EB6-CE18A5DF4913}"/>
              </a:ext>
            </a:extLst>
          </p:cNvPr>
          <p:cNvSpPr txBox="1">
            <a:spLocks/>
          </p:cNvSpPr>
          <p:nvPr/>
        </p:nvSpPr>
        <p:spPr>
          <a:xfrm>
            <a:off x="330613" y="1285719"/>
            <a:ext cx="11530774" cy="5297961"/>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a:r>
              <a:rPr lang="en-US" sz="1600" b="1" dirty="0"/>
              <a:t>Post-processing is critical:</a:t>
            </a:r>
            <a:r>
              <a:rPr lang="en-US" sz="1600" dirty="0"/>
              <a:t> raised pass@1 score from 5.6% (raw) to 70.0% (fence-extracted) and 74.9% (full cleaning).</a:t>
            </a:r>
          </a:p>
          <a:p>
            <a:pPr lvl="0" algn="just"/>
            <a:r>
              <a:rPr lang="en-US" sz="1600" b="1" dirty="0"/>
              <a:t>Simpler prompts often win:</a:t>
            </a:r>
            <a:r>
              <a:rPr lang="en-US" sz="1600" dirty="0"/>
              <a:t> basic prompts achieved a mean pass@1 of 0.767 versus 0.760 for instructional and 0.718 for “full” prompts.</a:t>
            </a:r>
          </a:p>
          <a:p>
            <a:pPr lvl="0" algn="just"/>
            <a:r>
              <a:rPr lang="en-US" sz="1600" b="1" dirty="0"/>
              <a:t>7 B models dominate </a:t>
            </a:r>
            <a:r>
              <a:rPr lang="en-US" sz="1600" dirty="0"/>
              <a:t>the leaderboards, while very small (&lt; 4 B) and larger (&gt; 10 B) models perform worse.</a:t>
            </a:r>
          </a:p>
          <a:p>
            <a:pPr lvl="0" algn="just"/>
            <a:r>
              <a:rPr lang="en-US" sz="1600" b="1" dirty="0"/>
              <a:t>Data-leakage penalty:</a:t>
            </a:r>
            <a:r>
              <a:rPr lang="en-US" sz="1600" dirty="0"/>
              <a:t> all models suffer steep drops on the uncontaminated LBPP and </a:t>
            </a:r>
            <a:r>
              <a:rPr lang="en-US" sz="1600" dirty="0" err="1"/>
              <a:t>BigCodeBench</a:t>
            </a:r>
            <a:r>
              <a:rPr lang="en-US" sz="1600" dirty="0"/>
              <a:t> datasets, validating the need for held-out benchmarks.</a:t>
            </a:r>
          </a:p>
          <a:p>
            <a:pPr lvl="0" algn="just"/>
            <a:r>
              <a:rPr lang="en-US" sz="1600" b="1" dirty="0"/>
              <a:t>Reflection boosts quality:</a:t>
            </a:r>
            <a:r>
              <a:rPr lang="en-US" sz="1600" dirty="0"/>
              <a:t> a two-stage self-critique workflow adds </a:t>
            </a:r>
            <a:r>
              <a:rPr lang="en-US" sz="1600" b="1" dirty="0"/>
              <a:t>+6 pp on average</a:t>
            </a:r>
            <a:r>
              <a:rPr lang="en-US" sz="1600" dirty="0"/>
              <a:t>.</a:t>
            </a:r>
          </a:p>
          <a:p>
            <a:pPr lvl="0" algn="just"/>
            <a:r>
              <a:rPr lang="en-US" sz="1600" b="1" dirty="0"/>
              <a:t>Fine-tuning proves effective:</a:t>
            </a:r>
            <a:r>
              <a:rPr lang="en-US" sz="1600" dirty="0"/>
              <a:t> </a:t>
            </a:r>
            <a:r>
              <a:rPr lang="en-US" sz="1600" dirty="0" err="1"/>
              <a:t>QLoRA</a:t>
            </a:r>
            <a:r>
              <a:rPr lang="en-US" sz="1600" dirty="0"/>
              <a:t>-based adaptation on MBPP gave </a:t>
            </a:r>
            <a:r>
              <a:rPr lang="en-US" sz="1600" b="1" dirty="0"/>
              <a:t>+3 pp</a:t>
            </a:r>
            <a:r>
              <a:rPr lang="en-US" sz="1600" dirty="0"/>
              <a:t> (</a:t>
            </a:r>
            <a:r>
              <a:rPr lang="en-US" sz="1600" dirty="0" err="1"/>
              <a:t>Nxcode</a:t>
            </a:r>
            <a:r>
              <a:rPr lang="en-US" sz="1600" dirty="0"/>
              <a:t>) and </a:t>
            </a:r>
            <a:r>
              <a:rPr lang="en-US" sz="1600" b="1" dirty="0"/>
              <a:t>+5 pp</a:t>
            </a:r>
            <a:r>
              <a:rPr lang="en-US" sz="1600" dirty="0"/>
              <a:t> (Mistral 8B).</a:t>
            </a:r>
          </a:p>
          <a:p>
            <a:pPr algn="just"/>
            <a:r>
              <a:rPr lang="en-US" sz="1600" b="1" dirty="0"/>
              <a:t>Temperature tuning helps selectively:</a:t>
            </a:r>
            <a:r>
              <a:rPr lang="en-US" sz="1600" dirty="0"/>
              <a:t> lowering temperature to </a:t>
            </a:r>
            <a:r>
              <a:rPr lang="en-US" sz="1600" b="1" dirty="0"/>
              <a:t>0.1</a:t>
            </a:r>
            <a:r>
              <a:rPr lang="en-US" sz="1600" dirty="0"/>
              <a:t> yields up to </a:t>
            </a:r>
            <a:r>
              <a:rPr lang="en-US" sz="1600" b="1" dirty="0"/>
              <a:t>+0.96%</a:t>
            </a:r>
            <a:r>
              <a:rPr lang="en-US" sz="1600" dirty="0"/>
              <a:t> on LBPP, though optimal settings vary by model; nucleus sampling (</a:t>
            </a:r>
            <a:r>
              <a:rPr lang="en-US" sz="1600" dirty="0" err="1"/>
              <a:t>top_p</a:t>
            </a:r>
            <a:r>
              <a:rPr lang="en-US" sz="1600" dirty="0"/>
              <a:t>) showed no consistent benefit.</a:t>
            </a:r>
          </a:p>
          <a:p>
            <a:pPr lvl="0" algn="just"/>
            <a:r>
              <a:rPr lang="en-US" sz="1600" b="1" dirty="0"/>
              <a:t>Error modes expose weaknesses:</a:t>
            </a:r>
            <a:r>
              <a:rPr lang="en-US" sz="1600" dirty="0"/>
              <a:t> </a:t>
            </a:r>
            <a:r>
              <a:rPr lang="en-US" sz="1600" dirty="0" err="1"/>
              <a:t>AssertionError</a:t>
            </a:r>
            <a:r>
              <a:rPr lang="en-US" sz="1600" dirty="0"/>
              <a:t> dominates unit-test failures for </a:t>
            </a:r>
            <a:r>
              <a:rPr lang="en-US" sz="1600" dirty="0" err="1"/>
              <a:t>HumanEval</a:t>
            </a:r>
            <a:r>
              <a:rPr lang="en-US" sz="1600" dirty="0"/>
              <a:t>, MBPP, and LBPP, while </a:t>
            </a:r>
            <a:r>
              <a:rPr lang="en-US" sz="1600" dirty="0" err="1"/>
              <a:t>TypeError</a:t>
            </a:r>
            <a:r>
              <a:rPr lang="en-US" sz="1600" dirty="0"/>
              <a:t> leads on </a:t>
            </a:r>
            <a:r>
              <a:rPr lang="en-US" sz="1600" dirty="0" err="1"/>
              <a:t>BigCodeBench</a:t>
            </a:r>
            <a:r>
              <a:rPr lang="en-US" sz="1600" dirty="0"/>
              <a:t>.</a:t>
            </a:r>
          </a:p>
          <a:p>
            <a:pPr lvl="0" algn="just"/>
            <a:r>
              <a:rPr lang="en-US" sz="1600" b="1" dirty="0"/>
              <a:t>Latency scales with complexity:</a:t>
            </a:r>
            <a:r>
              <a:rPr lang="en-US" sz="1600" dirty="0"/>
              <a:t> per-sample inference takes ~7.6 s on MBPP/</a:t>
            </a:r>
            <a:r>
              <a:rPr lang="en-US" sz="1600" dirty="0" err="1"/>
              <a:t>HumanEval</a:t>
            </a:r>
            <a:r>
              <a:rPr lang="en-US" sz="1600" dirty="0"/>
              <a:t>, ~14.5 s on </a:t>
            </a:r>
            <a:r>
              <a:rPr lang="en-US" sz="1600" dirty="0" err="1"/>
              <a:t>BigCodeBench</a:t>
            </a:r>
            <a:r>
              <a:rPr lang="en-US" sz="1600" dirty="0"/>
              <a:t>, and ~18.4 s on LBPP, reflecting longer prompts and heavier test harnesses.</a:t>
            </a:r>
          </a:p>
          <a:p>
            <a:pPr lvl="0" algn="just"/>
            <a:r>
              <a:rPr lang="en-US" sz="1600" b="1" dirty="0"/>
              <a:t>Execution environment matters:</a:t>
            </a:r>
            <a:r>
              <a:rPr lang="en-US" sz="1600" dirty="0"/>
              <a:t> Mistral-API models are fastest (2.6–3.8 s), </a:t>
            </a:r>
            <a:r>
              <a:rPr lang="en-US" sz="1600" dirty="0" err="1"/>
              <a:t>Colab</a:t>
            </a:r>
            <a:r>
              <a:rPr lang="en-US" sz="1600" dirty="0"/>
              <a:t>-hosted 7 B models run in ~8–13 s, and Replicate calls can spike to 200–300 s—crucial for throughput planning.</a:t>
            </a:r>
          </a:p>
          <a:p>
            <a:pPr lvl="0" algn="just"/>
            <a:r>
              <a:rPr lang="en-US" sz="1600" b="1" dirty="0"/>
              <a:t>Cost trade-offs:</a:t>
            </a:r>
            <a:r>
              <a:rPr lang="en-US" sz="1600" dirty="0"/>
              <a:t> Mistral AI API is most economical at </a:t>
            </a:r>
            <a:r>
              <a:rPr lang="en-US" sz="1600" b="1" dirty="0"/>
              <a:t>$0.01–0.15</a:t>
            </a:r>
            <a:r>
              <a:rPr lang="en-US" sz="1600" dirty="0"/>
              <a:t> per full run, Google </a:t>
            </a:r>
            <a:r>
              <a:rPr lang="en-US" sz="1600" dirty="0" err="1"/>
              <a:t>Colab</a:t>
            </a:r>
            <a:r>
              <a:rPr lang="en-US" sz="1600" dirty="0"/>
              <a:t> Pro+ (500 compute units/month) costs </a:t>
            </a:r>
            <a:r>
              <a:rPr lang="en-US" sz="1600" b="1" dirty="0"/>
              <a:t>$0.65–2.00</a:t>
            </a:r>
            <a:r>
              <a:rPr lang="en-US" sz="1600" dirty="0"/>
              <a:t> per experiment, and Replicate varies </a:t>
            </a:r>
            <a:r>
              <a:rPr lang="en-US" sz="1600" b="1" dirty="0"/>
              <a:t>$0.02–3.55</a:t>
            </a:r>
            <a:r>
              <a:rPr lang="en-US" sz="1600" dirty="0"/>
              <a:t>, guiding platform choice for scale.</a:t>
            </a:r>
          </a:p>
        </p:txBody>
      </p:sp>
    </p:spTree>
    <p:extLst>
      <p:ext uri="{BB962C8B-B14F-4D97-AF65-F5344CB8AC3E}">
        <p14:creationId xmlns:p14="http://schemas.microsoft.com/office/powerpoint/2010/main" val="38493970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FF7F0-EE94-B2A1-F60C-C994F08B52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B8B9D-11A2-4F7E-A8D3-DEA00DFE7C7A}"/>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Model selection recommendations</a:t>
            </a:r>
            <a:endParaRPr lang="en-US" dirty="0"/>
          </a:p>
        </p:txBody>
      </p:sp>
      <p:sp>
        <p:nvSpPr>
          <p:cNvPr id="5" name="Content Placeholder 2">
            <a:extLst>
              <a:ext uri="{FF2B5EF4-FFF2-40B4-BE49-F238E27FC236}">
                <a16:creationId xmlns:a16="http://schemas.microsoft.com/office/drawing/2014/main" id="{7766E2BD-D3CF-EA1F-0F08-AEC8867C4B32}"/>
              </a:ext>
            </a:extLst>
          </p:cNvPr>
          <p:cNvSpPr txBox="1">
            <a:spLocks/>
          </p:cNvSpPr>
          <p:nvPr/>
        </p:nvSpPr>
        <p:spPr>
          <a:xfrm>
            <a:off x="578696" y="1729757"/>
            <a:ext cx="11034608" cy="4033734"/>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00"/>
              </a:spcBef>
              <a:buNone/>
            </a:pPr>
            <a:r>
              <a:rPr lang="en-US" sz="1600" b="1" dirty="0"/>
              <a:t>If absolute correctness is the only goal</a:t>
            </a:r>
            <a:r>
              <a:rPr lang="en-US" sz="1600" dirty="0"/>
              <a:t>:</a:t>
            </a:r>
          </a:p>
          <a:p>
            <a:pPr>
              <a:spcBef>
                <a:spcPts val="500"/>
              </a:spcBef>
              <a:buFont typeface="Courier New" panose="02070309020205020404" pitchFamily="49" charset="0"/>
              <a:buChar char="o"/>
            </a:pPr>
            <a:r>
              <a:rPr lang="en-US" sz="1600" dirty="0"/>
              <a:t>CodeQwen1.5-7B-Chat (mean 0.865 pass@1) and Nxcode-CQ-7B-orpo (mean 0.856) clearly lead the 15-model experiments, topping every public benchmark (</a:t>
            </a:r>
            <a:r>
              <a:rPr lang="en-US" sz="1600" dirty="0" err="1"/>
              <a:t>HumanEval</a:t>
            </a:r>
            <a:r>
              <a:rPr lang="en-US" sz="1600" dirty="0"/>
              <a:t>, MBPP) and holding the #1–2 spots even on held-out tests.</a:t>
            </a:r>
          </a:p>
          <a:p>
            <a:pPr>
              <a:spcBef>
                <a:spcPts val="500"/>
              </a:spcBef>
              <a:buFont typeface="Courier New" panose="02070309020205020404" pitchFamily="49" charset="0"/>
              <a:buChar char="o"/>
            </a:pPr>
            <a:r>
              <a:rPr lang="en-US" sz="1600" dirty="0" err="1"/>
              <a:t>Codestral</a:t>
            </a:r>
            <a:r>
              <a:rPr lang="en-US" sz="1600" dirty="0"/>
              <a:t> Mamba (#3, mean 0.845) complements this “best-of-breed” triad.</a:t>
            </a:r>
          </a:p>
          <a:p>
            <a:pPr marL="0" indent="0">
              <a:spcBef>
                <a:spcPts val="500"/>
              </a:spcBef>
              <a:buNone/>
            </a:pPr>
            <a:endParaRPr lang="en-US" sz="1600" dirty="0"/>
          </a:p>
          <a:p>
            <a:pPr marL="0" indent="0">
              <a:spcBef>
                <a:spcPts val="500"/>
              </a:spcBef>
              <a:buNone/>
            </a:pPr>
            <a:r>
              <a:rPr lang="en-US" sz="1600" b="1" dirty="0"/>
              <a:t>For the lowest latency</a:t>
            </a:r>
            <a:r>
              <a:rPr lang="en-US" sz="1600" dirty="0"/>
              <a:t>, the Mistral-family dominates on speed using the Mistral AI API (under 4 s per sample):</a:t>
            </a:r>
          </a:p>
          <a:p>
            <a:pPr>
              <a:spcBef>
                <a:spcPts val="500"/>
              </a:spcBef>
              <a:buFont typeface="Courier New" panose="02070309020205020404" pitchFamily="49" charset="0"/>
              <a:buChar char="o"/>
            </a:pPr>
            <a:r>
              <a:rPr lang="en-US" sz="1600" dirty="0"/>
              <a:t>Mistral Nemo (2.6 s),</a:t>
            </a:r>
          </a:p>
          <a:p>
            <a:pPr>
              <a:spcBef>
                <a:spcPts val="500"/>
              </a:spcBef>
              <a:buFont typeface="Courier New" panose="02070309020205020404" pitchFamily="49" charset="0"/>
              <a:buChar char="o"/>
            </a:pPr>
            <a:r>
              <a:rPr lang="en-US" sz="1600" dirty="0"/>
              <a:t>Mistral 7B (3.2 s),</a:t>
            </a:r>
          </a:p>
          <a:p>
            <a:pPr>
              <a:spcBef>
                <a:spcPts val="500"/>
              </a:spcBef>
              <a:buFont typeface="Courier New" panose="02070309020205020404" pitchFamily="49" charset="0"/>
              <a:buChar char="o"/>
            </a:pPr>
            <a:r>
              <a:rPr lang="en-US" sz="1600" dirty="0"/>
              <a:t>Mistral 8B (3.5 s), and</a:t>
            </a:r>
          </a:p>
          <a:p>
            <a:pPr>
              <a:spcBef>
                <a:spcPts val="500"/>
              </a:spcBef>
              <a:buFont typeface="Courier New" panose="02070309020205020404" pitchFamily="49" charset="0"/>
              <a:buChar char="o"/>
            </a:pPr>
            <a:r>
              <a:rPr lang="en-US" sz="1600" dirty="0" err="1"/>
              <a:t>Codestral</a:t>
            </a:r>
            <a:r>
              <a:rPr lang="en-US" sz="1600" dirty="0"/>
              <a:t> Mamba (3.8 s).</a:t>
            </a:r>
          </a:p>
          <a:p>
            <a:pPr marL="0" indent="0">
              <a:spcBef>
                <a:spcPts val="500"/>
              </a:spcBef>
              <a:buNone/>
            </a:pPr>
            <a:endParaRPr lang="en-US" sz="1600" dirty="0"/>
          </a:p>
          <a:p>
            <a:pPr marL="0" indent="0">
              <a:spcBef>
                <a:spcPts val="500"/>
              </a:spcBef>
              <a:buNone/>
            </a:pPr>
            <a:r>
              <a:rPr lang="en-US" sz="1600" b="1" dirty="0"/>
              <a:t>The best performance vs. cost trade-off</a:t>
            </a:r>
            <a:r>
              <a:rPr lang="en-US" sz="1600" dirty="0"/>
              <a:t>:</a:t>
            </a:r>
          </a:p>
          <a:p>
            <a:pPr>
              <a:spcBef>
                <a:spcPts val="500"/>
              </a:spcBef>
              <a:buFont typeface="Courier New" panose="02070309020205020404" pitchFamily="49" charset="0"/>
              <a:buChar char="o"/>
            </a:pPr>
            <a:r>
              <a:rPr lang="en-US" sz="1600" dirty="0" err="1"/>
              <a:t>Codestral</a:t>
            </a:r>
            <a:r>
              <a:rPr lang="en-US" sz="1600" dirty="0"/>
              <a:t> Mamba (mean 0.845, 3.8 s, $0.02–0.15/run) performs well and fast enough.</a:t>
            </a:r>
          </a:p>
          <a:p>
            <a:pPr>
              <a:spcBef>
                <a:spcPts val="500"/>
              </a:spcBef>
              <a:buFont typeface="Courier New" panose="02070309020205020404" pitchFamily="49" charset="0"/>
              <a:buChar char="o"/>
            </a:pPr>
            <a:r>
              <a:rPr lang="en-US" sz="1600" dirty="0"/>
              <a:t>Mistral 8B sits squarely in the middle—≈0.83 pass@1, 3.5 s latency, $0.01–0.15/run</a:t>
            </a:r>
          </a:p>
        </p:txBody>
      </p:sp>
    </p:spTree>
    <p:extLst>
      <p:ext uri="{BB962C8B-B14F-4D97-AF65-F5344CB8AC3E}">
        <p14:creationId xmlns:p14="http://schemas.microsoft.com/office/powerpoint/2010/main" val="164943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799FD-7E45-6FA8-9A68-3CD09C81B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A113B-89E6-ADB4-5B85-1B87AA778086}"/>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Contributions to Body of Knowledge</a:t>
            </a:r>
            <a:endParaRPr lang="en-US" dirty="0"/>
          </a:p>
        </p:txBody>
      </p:sp>
      <p:sp>
        <p:nvSpPr>
          <p:cNvPr id="5" name="Content Placeholder 2">
            <a:extLst>
              <a:ext uri="{FF2B5EF4-FFF2-40B4-BE49-F238E27FC236}">
                <a16:creationId xmlns:a16="http://schemas.microsoft.com/office/drawing/2014/main" id="{599C7AEB-3805-6C01-7F7E-3C05B40F6ECC}"/>
              </a:ext>
            </a:extLst>
          </p:cNvPr>
          <p:cNvSpPr txBox="1">
            <a:spLocks/>
          </p:cNvSpPr>
          <p:nvPr/>
        </p:nvSpPr>
        <p:spPr>
          <a:xfrm>
            <a:off x="578696" y="1414308"/>
            <a:ext cx="11034608" cy="461819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600" dirty="0"/>
              <a:t>Validated a </a:t>
            </a:r>
            <a:r>
              <a:rPr lang="en-US" sz="1600" b="1" dirty="0"/>
              <a:t>tiered cleaning pipeline</a:t>
            </a:r>
            <a:r>
              <a:rPr lang="en-US" sz="1600" dirty="0"/>
              <a:t>: simple extraction of code from the first code fences improves results by ~70 pp;  the full cleaning pass yields a further ~5 pp gain. Full cleaning should be the standard for automated code evaluation.</a:t>
            </a:r>
          </a:p>
          <a:p>
            <a:pPr marL="342900" indent="-342900">
              <a:buFont typeface="+mj-lt"/>
              <a:buAutoNum type="arabicPeriod"/>
            </a:pPr>
            <a:r>
              <a:rPr lang="en-US" sz="1600" dirty="0"/>
              <a:t>Clarified </a:t>
            </a:r>
            <a:r>
              <a:rPr lang="en-US" sz="1600" b="1" dirty="0"/>
              <a:t>prompt-complexity trade-offs</a:t>
            </a:r>
            <a:r>
              <a:rPr lang="en-US" sz="1600" dirty="0"/>
              <a:t>: showed that, on average, a succinct “basic” prompt outperforms more elaborate “instructional” or “full” prompts—saving tokens, time, and developer effort.</a:t>
            </a:r>
          </a:p>
          <a:p>
            <a:pPr marL="342900" indent="-342900">
              <a:buFont typeface="+mj-lt"/>
              <a:buAutoNum type="arabicPeriod"/>
            </a:pPr>
            <a:r>
              <a:rPr lang="en-US" sz="1600" dirty="0"/>
              <a:t>Identified a </a:t>
            </a:r>
            <a:r>
              <a:rPr lang="en-US" sz="1600" b="1" dirty="0"/>
              <a:t>7 B-parameter sweet spot</a:t>
            </a:r>
            <a:r>
              <a:rPr lang="en-US" sz="1600" dirty="0"/>
              <a:t>: empirically ranked CodeQwen1.5-7B-Chat, Nxcode-CQ-7B-orpo, and </a:t>
            </a:r>
            <a:r>
              <a:rPr lang="en-US" sz="1600" dirty="0" err="1"/>
              <a:t>Codestral</a:t>
            </a:r>
            <a:r>
              <a:rPr lang="en-US" sz="1600" dirty="0"/>
              <a:t> Mamba at the top of the four diverse benchmarks.</a:t>
            </a:r>
          </a:p>
          <a:p>
            <a:pPr marL="342900" indent="-342900">
              <a:buFont typeface="+mj-lt"/>
              <a:buAutoNum type="arabicPeriod"/>
            </a:pPr>
            <a:r>
              <a:rPr lang="en-US" sz="1600" dirty="0"/>
              <a:t>Exposed </a:t>
            </a:r>
            <a:r>
              <a:rPr lang="en-US" sz="1600" b="1" dirty="0"/>
              <a:t>data-leakage effects </a:t>
            </a:r>
            <a:r>
              <a:rPr lang="en-US" sz="1600" dirty="0"/>
              <a:t>by comparing performance on public (</a:t>
            </a:r>
            <a:r>
              <a:rPr lang="en-US" sz="1600" dirty="0" err="1"/>
              <a:t>HumanEval</a:t>
            </a:r>
            <a:r>
              <a:rPr lang="en-US" sz="1600" dirty="0"/>
              <a:t>/MBPP) vs. uncontaminated (LBPP/ </a:t>
            </a:r>
            <a:r>
              <a:rPr lang="en-US" sz="1600" dirty="0" err="1"/>
              <a:t>BigCodeBench</a:t>
            </a:r>
            <a:r>
              <a:rPr lang="en-US" sz="1600" dirty="0"/>
              <a:t>) datasets.</a:t>
            </a:r>
          </a:p>
          <a:p>
            <a:pPr marL="342900" indent="-342900">
              <a:buFont typeface="+mj-lt"/>
              <a:buAutoNum type="arabicPeriod"/>
            </a:pPr>
            <a:r>
              <a:rPr lang="en-US" sz="1600" dirty="0"/>
              <a:t>Measured </a:t>
            </a:r>
            <a:r>
              <a:rPr lang="en-US" sz="1600" b="1" dirty="0"/>
              <a:t>agentic workflow gains</a:t>
            </a:r>
          </a:p>
          <a:p>
            <a:pPr marL="342900" indent="-342900">
              <a:buFont typeface="+mj-lt"/>
              <a:buAutoNum type="arabicPeriod"/>
            </a:pPr>
            <a:r>
              <a:rPr lang="en-US" sz="1600" dirty="0"/>
              <a:t>Discovered the </a:t>
            </a:r>
            <a:r>
              <a:rPr lang="en-US" sz="1600" b="1" dirty="0"/>
              <a:t>error-mode distributions </a:t>
            </a:r>
            <a:r>
              <a:rPr lang="en-US" sz="1600" dirty="0"/>
              <a:t>by aggregating thousands of failure cases</a:t>
            </a:r>
          </a:p>
          <a:p>
            <a:pPr marL="342900" indent="-342900">
              <a:buFont typeface="+mj-lt"/>
              <a:buAutoNum type="arabicPeriod"/>
            </a:pPr>
            <a:r>
              <a:rPr lang="en-US" sz="1600" dirty="0"/>
              <a:t>Characterized </a:t>
            </a:r>
            <a:r>
              <a:rPr lang="en-US" sz="1600" b="1" dirty="0"/>
              <a:t>latency vs. task complexity</a:t>
            </a:r>
          </a:p>
          <a:p>
            <a:pPr marL="342900" indent="-342900">
              <a:buFont typeface="+mj-lt"/>
              <a:buAutoNum type="arabicPeriod"/>
            </a:pPr>
            <a:r>
              <a:rPr lang="en-US" sz="1600" dirty="0"/>
              <a:t>Compared </a:t>
            </a:r>
            <a:r>
              <a:rPr lang="en-US" sz="1600" b="1" dirty="0"/>
              <a:t>cost/throughput trade-offs</a:t>
            </a:r>
          </a:p>
          <a:p>
            <a:pPr marL="342900" indent="-342900">
              <a:buFont typeface="+mj-lt"/>
              <a:buAutoNum type="arabicPeriod"/>
            </a:pPr>
            <a:r>
              <a:rPr lang="en-US" sz="1600" dirty="0"/>
              <a:t>Provided </a:t>
            </a:r>
            <a:r>
              <a:rPr lang="en-US" sz="1600" b="1" dirty="0"/>
              <a:t>temperature</a:t>
            </a:r>
            <a:r>
              <a:rPr lang="en-US" sz="1600" dirty="0"/>
              <a:t> and </a:t>
            </a:r>
            <a:r>
              <a:rPr lang="en-US" sz="1600" b="1" dirty="0" err="1"/>
              <a:t>top_p</a:t>
            </a:r>
            <a:r>
              <a:rPr lang="en-US" sz="1600" dirty="0"/>
              <a:t> tuning insights</a:t>
            </a:r>
          </a:p>
          <a:p>
            <a:pPr marL="342900" indent="-342900">
              <a:buFont typeface="+mj-lt"/>
              <a:buAutoNum type="arabicPeriod"/>
            </a:pPr>
            <a:r>
              <a:rPr lang="en-US" sz="1600" dirty="0"/>
              <a:t>Demonstrated </a:t>
            </a:r>
            <a:r>
              <a:rPr lang="en-US" sz="1600" b="1" dirty="0"/>
              <a:t>lightweight fine-tuning gains</a:t>
            </a:r>
            <a:r>
              <a:rPr lang="en-US" sz="1600" dirty="0"/>
              <a:t> validating that </a:t>
            </a:r>
            <a:r>
              <a:rPr lang="en-US" sz="1600" dirty="0" err="1"/>
              <a:t>QLoRA</a:t>
            </a:r>
            <a:r>
              <a:rPr lang="en-US" sz="1600" dirty="0"/>
              <a:t> on a single GPU can yield +3–5 pp improvements - a viable path for domain-specific code-generation enhancements</a:t>
            </a:r>
          </a:p>
          <a:p>
            <a:pPr marL="342900" indent="-342900">
              <a:buFont typeface="+mj-lt"/>
              <a:buAutoNum type="arabicPeriod"/>
            </a:pPr>
            <a:endParaRPr lang="en-US" sz="1600" dirty="0"/>
          </a:p>
          <a:p>
            <a:pPr marL="342900" indent="-342900">
              <a:buFont typeface="+mj-lt"/>
              <a:buAutoNum type="arabicPeriod"/>
            </a:pPr>
            <a:endParaRPr lang="en-US" sz="1600" dirty="0"/>
          </a:p>
        </p:txBody>
      </p:sp>
    </p:spTree>
    <p:extLst>
      <p:ext uri="{BB962C8B-B14F-4D97-AF65-F5344CB8AC3E}">
        <p14:creationId xmlns:p14="http://schemas.microsoft.com/office/powerpoint/2010/main" val="1677360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C9544-D0FF-A760-04E3-D0E7BADF7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CA02A-E4CD-6F2D-4CBD-8F851E9017D5}"/>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Recommendations for Future Research</a:t>
            </a:r>
            <a:endParaRPr lang="en-US" dirty="0"/>
          </a:p>
        </p:txBody>
      </p:sp>
      <p:sp>
        <p:nvSpPr>
          <p:cNvPr id="5" name="Content Placeholder 2">
            <a:extLst>
              <a:ext uri="{FF2B5EF4-FFF2-40B4-BE49-F238E27FC236}">
                <a16:creationId xmlns:a16="http://schemas.microsoft.com/office/drawing/2014/main" id="{93CB26E7-2013-EA47-673F-67A35BF3622D}"/>
              </a:ext>
            </a:extLst>
          </p:cNvPr>
          <p:cNvSpPr txBox="1">
            <a:spLocks/>
          </p:cNvSpPr>
          <p:nvPr/>
        </p:nvSpPr>
        <p:spPr>
          <a:xfrm>
            <a:off x="481077" y="1414308"/>
            <a:ext cx="11034608" cy="493569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solidFill>
                  <a:schemeClr val="accent4">
                    <a:lumMod val="75000"/>
                  </a:schemeClr>
                </a:solidFill>
              </a:rPr>
              <a:t>Explore other options</a:t>
            </a:r>
            <a:r>
              <a:rPr lang="en-US" sz="1600" dirty="0">
                <a:solidFill>
                  <a:schemeClr val="accent4">
                    <a:lumMod val="75000"/>
                  </a:schemeClr>
                </a:solidFill>
              </a:rPr>
              <a:t> </a:t>
            </a:r>
            <a:r>
              <a:rPr lang="en-US" sz="1600" dirty="0"/>
              <a:t>beyond the current time and scope limitations:</a:t>
            </a:r>
          </a:p>
          <a:p>
            <a:r>
              <a:rPr lang="en-US" sz="1600" u="sng" dirty="0"/>
              <a:t>Improve the agentic performance </a:t>
            </a:r>
            <a:r>
              <a:rPr lang="en-US" sz="1600" dirty="0"/>
              <a:t>by:</a:t>
            </a:r>
          </a:p>
          <a:p>
            <a:pPr lvl="1">
              <a:buFont typeface="Courier New" panose="02070309020205020404" pitchFamily="49" charset="0"/>
              <a:buChar char="o"/>
            </a:pPr>
            <a:r>
              <a:rPr lang="en-US" sz="1400" dirty="0"/>
              <a:t>Improving the prompt engineering based on the current results.</a:t>
            </a:r>
          </a:p>
          <a:p>
            <a:pPr lvl="1">
              <a:buFont typeface="Courier New" panose="02070309020205020404" pitchFamily="49" charset="0"/>
              <a:buChar char="o"/>
            </a:pPr>
            <a:r>
              <a:rPr lang="en-US" sz="1400" dirty="0"/>
              <a:t>Conducting error analysis to improve the post-processing of generated code to achieve better code executability.</a:t>
            </a:r>
          </a:p>
          <a:p>
            <a:pPr lvl="1">
              <a:buFont typeface="Courier New" panose="02070309020205020404" pitchFamily="49" charset="0"/>
              <a:buChar char="o"/>
            </a:pPr>
            <a:r>
              <a:rPr lang="en-US" sz="1400" dirty="0"/>
              <a:t>Improving the results via the efficient use of the </a:t>
            </a:r>
            <a:r>
              <a:rPr lang="en-US" sz="1400" dirty="0" err="1"/>
              <a:t>LangChain</a:t>
            </a:r>
            <a:r>
              <a:rPr lang="en-US" sz="1400" dirty="0"/>
              <a:t> and </a:t>
            </a:r>
            <a:r>
              <a:rPr lang="en-US" sz="1400" dirty="0" err="1"/>
              <a:t>LangGraph</a:t>
            </a:r>
            <a:r>
              <a:rPr lang="en-US" sz="1400" dirty="0"/>
              <a:t> frameworks to organize multi-agent workflows where each agent is defined as a step in a pipeline.</a:t>
            </a:r>
          </a:p>
          <a:p>
            <a:pPr lvl="1">
              <a:buFont typeface="Courier New" panose="02070309020205020404" pitchFamily="49" charset="0"/>
              <a:buChar char="o"/>
            </a:pPr>
            <a:r>
              <a:rPr lang="en-US" sz="1400" dirty="0"/>
              <a:t>Fine-tuning an SLM as part of agentic workflow.</a:t>
            </a:r>
          </a:p>
          <a:p>
            <a:pPr lvl="0"/>
            <a:r>
              <a:rPr lang="en-US" sz="1600" dirty="0"/>
              <a:t>Repeat the </a:t>
            </a:r>
            <a:r>
              <a:rPr lang="en-US" sz="1600" u="sng" dirty="0"/>
              <a:t>temperature and </a:t>
            </a:r>
            <a:r>
              <a:rPr lang="en-US" sz="1600" u="sng" dirty="0" err="1"/>
              <a:t>top_p</a:t>
            </a:r>
            <a:r>
              <a:rPr lang="en-US" sz="1600" u="sng" dirty="0"/>
              <a:t> experiments on the other three datasets </a:t>
            </a:r>
            <a:r>
              <a:rPr lang="en-US" sz="1600" dirty="0"/>
              <a:t>and maybe modifying other inference-time parameters of the model.</a:t>
            </a:r>
          </a:p>
          <a:p>
            <a:pPr lvl="0"/>
            <a:r>
              <a:rPr lang="en-US" sz="1600" dirty="0"/>
              <a:t>Repeat the </a:t>
            </a:r>
            <a:r>
              <a:rPr lang="en-US" sz="1600" u="sng" dirty="0"/>
              <a:t>fine-tuning experiment with other SLMs </a:t>
            </a:r>
            <a:r>
              <a:rPr lang="en-US" sz="1600" dirty="0"/>
              <a:t>and using other training datasets.</a:t>
            </a:r>
          </a:p>
          <a:p>
            <a:pPr marL="0" indent="0">
              <a:buNone/>
            </a:pPr>
            <a:r>
              <a:rPr lang="en-US" sz="1600" b="1" dirty="0">
                <a:solidFill>
                  <a:schemeClr val="accent4">
                    <a:lumMod val="75000"/>
                  </a:schemeClr>
                </a:solidFill>
              </a:rPr>
              <a:t>Other recommendations </a:t>
            </a:r>
            <a:r>
              <a:rPr lang="en-US" sz="1600" dirty="0"/>
              <a:t>meant to improve the overall results:</a:t>
            </a:r>
          </a:p>
          <a:p>
            <a:r>
              <a:rPr lang="en-US" sz="1600" u="sng" dirty="0"/>
              <a:t>Adjust other SLM inference parameters </a:t>
            </a:r>
            <a:r>
              <a:rPr lang="en-US" sz="1600" dirty="0"/>
              <a:t>in addition to the temperature and </a:t>
            </a:r>
            <a:r>
              <a:rPr lang="en-US" sz="1600" dirty="0" err="1"/>
              <a:t>top_p</a:t>
            </a:r>
            <a:r>
              <a:rPr lang="en-US" sz="1600" dirty="0"/>
              <a:t>.</a:t>
            </a:r>
          </a:p>
          <a:p>
            <a:pPr lvl="0"/>
            <a:r>
              <a:rPr lang="en-US" sz="1600" u="sng" dirty="0"/>
              <a:t>Fine-tuning SLMs using the Mistral AI API</a:t>
            </a:r>
            <a:r>
              <a:rPr lang="en-US" sz="1600" dirty="0"/>
              <a:t> (lower latency).</a:t>
            </a:r>
          </a:p>
          <a:p>
            <a:pPr lvl="0"/>
            <a:r>
              <a:rPr lang="en-US" sz="1600" dirty="0"/>
              <a:t>Analysis of </a:t>
            </a:r>
            <a:r>
              <a:rPr lang="en-US" sz="1600" u="sng" dirty="0"/>
              <a:t>performance stability</a:t>
            </a:r>
            <a:r>
              <a:rPr lang="en-US" sz="1600" dirty="0"/>
              <a:t> across multiple evaluation runs.</a:t>
            </a:r>
          </a:p>
          <a:p>
            <a:pPr lvl="0"/>
            <a:r>
              <a:rPr lang="en-US" sz="1600" dirty="0"/>
              <a:t>Comparison of results obtained from the </a:t>
            </a:r>
            <a:r>
              <a:rPr lang="en-US" sz="1600" u="sng" dirty="0"/>
              <a:t>same models hosted on different platforms</a:t>
            </a:r>
            <a:r>
              <a:rPr lang="en-US" sz="1600" dirty="0"/>
              <a:t>.</a:t>
            </a:r>
          </a:p>
          <a:p>
            <a:r>
              <a:rPr lang="en-US" sz="1600" u="sng" dirty="0"/>
              <a:t>Analysis of errors at a deeper level than datasets </a:t>
            </a:r>
            <a:r>
              <a:rPr lang="en-US" sz="1600" dirty="0"/>
              <a:t>(per model and/or per prompt) for further insights.</a:t>
            </a:r>
          </a:p>
          <a:p>
            <a:endParaRPr lang="en-US" sz="1600" dirty="0"/>
          </a:p>
        </p:txBody>
      </p:sp>
    </p:spTree>
    <p:extLst>
      <p:ext uri="{BB962C8B-B14F-4D97-AF65-F5344CB8AC3E}">
        <p14:creationId xmlns:p14="http://schemas.microsoft.com/office/powerpoint/2010/main" val="12938008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243E5-0210-52DB-7BEA-250360883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30AABD-EB42-47F5-112C-E8C72E78EC80}"/>
              </a:ext>
            </a:extLst>
          </p:cNvPr>
          <p:cNvSpPr>
            <a:spLocks noGrp="1"/>
          </p:cNvSpPr>
          <p:nvPr>
            <p:ph type="title"/>
          </p:nvPr>
        </p:nvSpPr>
        <p:spPr>
          <a:xfrm>
            <a:off x="0" y="2161309"/>
            <a:ext cx="12192000" cy="2632364"/>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pPr algn="ctr"/>
            <a:r>
              <a:rPr lang="en-US" b="1" dirty="0">
                <a:solidFill>
                  <a:srgbClr val="FFFFFF"/>
                </a:solidFill>
              </a:rPr>
              <a:t>Back Up Slides</a:t>
            </a:r>
            <a:endParaRPr lang="en-US" dirty="0"/>
          </a:p>
        </p:txBody>
      </p:sp>
    </p:spTree>
    <p:extLst>
      <p:ext uri="{BB962C8B-B14F-4D97-AF65-F5344CB8AC3E}">
        <p14:creationId xmlns:p14="http://schemas.microsoft.com/office/powerpoint/2010/main" val="16723683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EDBDA-E122-CB15-D3A8-2F08AD6A29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779E07-EFAA-01BC-4CA1-21790B106EF1}"/>
              </a:ext>
            </a:extLst>
          </p:cNvPr>
          <p:cNvSpPr>
            <a:spLocks noGrp="1"/>
          </p:cNvSpPr>
          <p:nvPr>
            <p:ph type="title"/>
          </p:nvPr>
        </p:nvSpPr>
        <p:spPr>
          <a:xfrm>
            <a:off x="0" y="1"/>
            <a:ext cx="12192000" cy="1180618"/>
          </a:xfrm>
          <a:gradFill>
            <a:gsLst>
              <a:gs pos="0">
                <a:schemeClr val="accent1">
                  <a:lumMod val="40000"/>
                  <a:lumOff val="60000"/>
                </a:schemeClr>
              </a:gs>
              <a:gs pos="20000">
                <a:schemeClr val="accent1">
                  <a:lumMod val="95000"/>
                  <a:lumOff val="5000"/>
                </a:schemeClr>
              </a:gs>
              <a:gs pos="99000">
                <a:schemeClr val="accent1">
                  <a:lumMod val="60000"/>
                </a:schemeClr>
              </a:gs>
            </a:gsLst>
            <a:path path="circle">
              <a:fillToRect l="50000" t="130000" r="50000" b="-30000"/>
            </a:path>
          </a:gradFill>
        </p:spPr>
        <p:txBody>
          <a:bodyPr>
            <a:noAutofit/>
          </a:bodyPr>
          <a:lstStyle/>
          <a:p>
            <a:r>
              <a:rPr lang="en-US" b="1" dirty="0">
                <a:solidFill>
                  <a:srgbClr val="FFFFFF"/>
                </a:solidFill>
              </a:rPr>
              <a:t>    </a:t>
            </a:r>
            <a:r>
              <a:rPr lang="en-US" b="1" dirty="0">
                <a:solidFill>
                  <a:schemeClr val="bg1"/>
                </a:solidFill>
              </a:rPr>
              <a:t>Scope of Research</a:t>
            </a:r>
            <a:endParaRPr lang="en-US" dirty="0"/>
          </a:p>
        </p:txBody>
      </p:sp>
      <p:sp>
        <p:nvSpPr>
          <p:cNvPr id="6" name="Content Placeholder 2">
            <a:extLst>
              <a:ext uri="{FF2B5EF4-FFF2-40B4-BE49-F238E27FC236}">
                <a16:creationId xmlns:a16="http://schemas.microsoft.com/office/drawing/2014/main" id="{52523DDB-E2EF-5025-9428-CA4FCDABA8F9}"/>
              </a:ext>
            </a:extLst>
          </p:cNvPr>
          <p:cNvSpPr>
            <a:spLocks noGrp="1"/>
          </p:cNvSpPr>
          <p:nvPr>
            <p:ph idx="1"/>
          </p:nvPr>
        </p:nvSpPr>
        <p:spPr>
          <a:xfrm>
            <a:off x="702245" y="1587320"/>
            <a:ext cx="10455577" cy="4460553"/>
          </a:xfrm>
        </p:spPr>
        <p:txBody>
          <a:bodyPr anchor="t" anchorCtr="0">
            <a:noAutofit/>
          </a:bodyPr>
          <a:lstStyle/>
          <a:p>
            <a:pPr marL="0" indent="0">
              <a:buNone/>
            </a:pPr>
            <a:r>
              <a:rPr lang="en-US" sz="1600" b="1" dirty="0"/>
              <a:t>Scope</a:t>
            </a:r>
          </a:p>
          <a:p>
            <a:r>
              <a:rPr lang="en-US" sz="1600" dirty="0"/>
              <a:t>Establish code generation benchmarks using public leaderboards.</a:t>
            </a:r>
          </a:p>
          <a:p>
            <a:r>
              <a:rPr lang="en-US" sz="1600" dirty="0"/>
              <a:t>Select several SLMs for code generation experiments.</a:t>
            </a:r>
          </a:p>
          <a:p>
            <a:r>
              <a:rPr lang="en-US" sz="1600" dirty="0"/>
              <a:t>Enhance SLMs with agents, vary model parameters, fine-tune models.</a:t>
            </a:r>
          </a:p>
          <a:p>
            <a:r>
              <a:rPr lang="en-US" sz="1600" dirty="0"/>
              <a:t>Conduct systematic experiments to assess the quality of generated code using quantifiable metrics</a:t>
            </a:r>
          </a:p>
          <a:p>
            <a:r>
              <a:rPr lang="en-US" sz="1600" dirty="0"/>
              <a:t>Document the experiments.</a:t>
            </a:r>
          </a:p>
          <a:p>
            <a:pPr marL="0" indent="0">
              <a:buNone/>
            </a:pPr>
            <a:r>
              <a:rPr lang="en-US" sz="1600" b="1" dirty="0"/>
              <a:t>Limitations</a:t>
            </a:r>
          </a:p>
          <a:p>
            <a:r>
              <a:rPr lang="en-US" sz="1600" dirty="0"/>
              <a:t>Due to smaller size (fewer training parameters) SLMs may not achieve the same level of sophistication, contextual understanding, and code generation quality as LLMs, no direct LLM experiments - using benchmarks.</a:t>
            </a:r>
          </a:p>
          <a:p>
            <a:r>
              <a:rPr lang="en-US" sz="1600" dirty="0"/>
              <a:t>Scope constraints: limited hardware and computational resources – imitating resource-constrained environments which restrict model fine-tuning capabilities, evaluation and training dataset size, and depth of evaluation</a:t>
            </a:r>
          </a:p>
          <a:p>
            <a:r>
              <a:rPr lang="en-US" sz="1600" dirty="0"/>
              <a:t>One-year timeframe =&gt; focus on Python and two agentic workflows.</a:t>
            </a:r>
          </a:p>
          <a:p>
            <a:r>
              <a:rPr lang="en-US" sz="1600" dirty="0"/>
              <a:t>Rapidly evolving AI landscape - new models or methods may emerge before publication, affecting the relevance of the findings.</a:t>
            </a:r>
          </a:p>
        </p:txBody>
      </p:sp>
    </p:spTree>
    <p:extLst>
      <p:ext uri="{BB962C8B-B14F-4D97-AF65-F5344CB8AC3E}">
        <p14:creationId xmlns:p14="http://schemas.microsoft.com/office/powerpoint/2010/main" val="22257688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9238</TotalTime>
  <Words>6517</Words>
  <Application>Microsoft Macintosh PowerPoint</Application>
  <PresentationFormat>Widescreen</PresentationFormat>
  <Paragraphs>359</Paragraphs>
  <Slides>34</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Aptos Display</vt:lpstr>
      <vt:lpstr>Arial</vt:lpstr>
      <vt:lpstr>Courier New</vt:lpstr>
      <vt:lpstr>Wingdings</vt:lpstr>
      <vt:lpstr>Office Theme</vt:lpstr>
      <vt:lpstr>Artificial Intelligence-Based System for Boosting Automated Code Generation from Natural Language Descriptions </vt:lpstr>
      <vt:lpstr>    Research Motivation</vt:lpstr>
      <vt:lpstr>    Initial Assumptions</vt:lpstr>
      <vt:lpstr>    Research Questions and Hypotheses</vt:lpstr>
      <vt:lpstr>    Literature: Important Sources</vt:lpstr>
      <vt:lpstr>    Literature: Important Sources (2)</vt:lpstr>
      <vt:lpstr>Methodology</vt:lpstr>
      <vt:lpstr>    Overview and Environments</vt:lpstr>
      <vt:lpstr>    Models</vt:lpstr>
      <vt:lpstr>    Benchmark Datasets</vt:lpstr>
      <vt:lpstr>    Metric</vt:lpstr>
      <vt:lpstr>    Prompts</vt:lpstr>
      <vt:lpstr>    Post-processing</vt:lpstr>
      <vt:lpstr>    Agentic Workflows</vt:lpstr>
      <vt:lpstr>    Experiments with Temperature and Fine-Tuning</vt:lpstr>
      <vt:lpstr>Results</vt:lpstr>
      <vt:lpstr>    Cleaning Effectiveness</vt:lpstr>
      <vt:lpstr>    Prompt Engineering Results</vt:lpstr>
      <vt:lpstr>    Overall Performance Across Benchmark Datasets</vt:lpstr>
      <vt:lpstr>    Single-Pass Results</vt:lpstr>
      <vt:lpstr>    Reflection Agent Results</vt:lpstr>
      <vt:lpstr>    Reflection Agent Results (2)</vt:lpstr>
      <vt:lpstr>    Multi-Agent Collaboration Results</vt:lpstr>
      <vt:lpstr>    SLM: Inference Parameter Optimization and Fine‑Tuning</vt:lpstr>
      <vt:lpstr>    Error Analysis</vt:lpstr>
      <vt:lpstr>    Latency and Cost Analysis</vt:lpstr>
      <vt:lpstr>    Efficiency Gains from SLMs</vt:lpstr>
      <vt:lpstr>    Substantiating the Thesis Statement and Validating Hypotheses</vt:lpstr>
      <vt:lpstr>    Key Findings</vt:lpstr>
      <vt:lpstr>    Model selection recommendations</vt:lpstr>
      <vt:lpstr>    Contributions to Body of Knowledge</vt:lpstr>
      <vt:lpstr>    Recommendations for Future Research</vt:lpstr>
      <vt:lpstr>Back Up Slides</vt:lpstr>
      <vt:lpstr>    Scope of Research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Nedilko, Andrew</dc:creator>
  <cp:lastModifiedBy>Nedilko, Andrew</cp:lastModifiedBy>
  <cp:revision>40</cp:revision>
  <cp:lastPrinted>2025-07-18T12:54:39Z</cp:lastPrinted>
  <dcterms:created xsi:type="dcterms:W3CDTF">2025-07-12T11:25:46Z</dcterms:created>
  <dcterms:modified xsi:type="dcterms:W3CDTF">2025-07-18T21:24:30Z</dcterms:modified>
</cp:coreProperties>
</file>